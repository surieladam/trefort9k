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31" roundtripDataSignature="AMtx7mgVBn983sCJoIjvW5Vj9gJD0GF2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113BE7-4523-4F53-9849-DAD77169ED49}">
  <a:tblStyle styleId="{85113BE7-4523-4F53-9849-DAD77169ED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EF"/>
          </a:solidFill>
        </a:fill>
      </a:tcStyle>
    </a:wholeTbl>
    <a:band1H>
      <a:tcTxStyle/>
      <a:tcStyle>
        <a:fill>
          <a:solidFill>
            <a:srgbClr val="CADDDD"/>
          </a:solidFill>
        </a:fill>
      </a:tcStyle>
    </a:band1H>
    <a:band2H>
      <a:tcTxStyle/>
    </a:band2H>
    <a:band1V>
      <a:tcTxStyle/>
      <a:tcStyle>
        <a:fill>
          <a:solidFill>
            <a:srgbClr val="CADDDD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26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21" name="Google Shape;21;p26"/>
            <p:cNvCxnSpPr/>
            <p:nvPr/>
          </p:nvCxnSpPr>
          <p:spPr>
            <a:xfrm flipH="1" rot="10800000">
              <a:off x="5638800" y="3108960"/>
              <a:ext cx="3515503" cy="2037116"/>
            </a:xfrm>
            <a:prstGeom prst="straightConnector1">
              <a:avLst/>
            </a:pr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6"/>
            <p:cNvCxnSpPr/>
            <p:nvPr/>
          </p:nvCxnSpPr>
          <p:spPr>
            <a:xfrm flipH="1" rot="10800000">
              <a:off x="6004643" y="3333750"/>
              <a:ext cx="3149660" cy="1823765"/>
            </a:xfrm>
            <a:prstGeom prst="straightConnector1">
              <a:avLst/>
            </a:pr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26"/>
            <p:cNvCxnSpPr/>
            <p:nvPr/>
          </p:nvCxnSpPr>
          <p:spPr>
            <a:xfrm flipH="1" rot="10800000">
              <a:off x="6388342" y="3549891"/>
              <a:ext cx="2765961" cy="1600149"/>
            </a:xfrm>
            <a:prstGeom prst="straightConnector1">
              <a:avLst/>
            </a:pr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" name="Google Shape;24;p26"/>
          <p:cNvGrpSpPr/>
          <p:nvPr/>
        </p:nvGrpSpPr>
        <p:grpSpPr>
          <a:xfrm>
            <a:off x="-8915" y="6057149"/>
            <a:ext cx="5498725" cy="820207"/>
            <a:chOff x="-6689" y="4553748"/>
            <a:chExt cx="4125119" cy="615155"/>
          </a:xfrm>
        </p:grpSpPr>
        <p:sp>
          <p:nvSpPr>
            <p:cNvPr id="25" name="Google Shape;25;p26"/>
            <p:cNvSpPr/>
            <p:nvPr/>
          </p:nvSpPr>
          <p:spPr>
            <a:xfrm rot="-5400000">
              <a:off x="1754302" y="2802395"/>
              <a:ext cx="612775" cy="4115481"/>
            </a:xfrm>
            <a:custGeom>
              <a:rect b="b" l="l" r="r" t="t"/>
              <a:pathLst>
                <a:path extrusionOk="0" h="4115481" w="612775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6"/>
            <p:cNvSpPr/>
            <p:nvPr/>
          </p:nvSpPr>
          <p:spPr>
            <a:xfrm rot="-5400000">
              <a:off x="1604659" y="3152814"/>
              <a:ext cx="410751" cy="3621427"/>
            </a:xfrm>
            <a:custGeom>
              <a:rect b="b" l="l" r="r" t="t"/>
              <a:pathLst>
                <a:path extrusionOk="0" h="3621427" w="410751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6"/>
            <p:cNvSpPr/>
            <p:nvPr/>
          </p:nvSpPr>
          <p:spPr>
            <a:xfrm rot="-5400000">
              <a:off x="1462308" y="3453376"/>
              <a:ext cx="241768" cy="3179761"/>
            </a:xfrm>
            <a:custGeom>
              <a:rect b="b" l="l" r="r" t="t"/>
              <a:pathLst>
                <a:path extrusionOk="0" h="3179761" w="241768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26"/>
          <p:cNvSpPr txBox="1"/>
          <p:nvPr>
            <p:ph type="ctrTitle"/>
          </p:nvPr>
        </p:nvSpPr>
        <p:spPr>
          <a:xfrm>
            <a:off x="1625176" y="584200"/>
            <a:ext cx="8735325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subTitle"/>
          </p:nvPr>
        </p:nvSpPr>
        <p:spPr>
          <a:xfrm>
            <a:off x="1625176" y="2616200"/>
            <a:ext cx="87353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cap="none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1218883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50519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500707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50519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9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48" name="Google Shape;48;p29"/>
            <p:cNvCxnSpPr/>
            <p:nvPr/>
          </p:nvCxnSpPr>
          <p:spPr>
            <a:xfrm flipH="1" rot="10800000">
              <a:off x="5638800" y="3108960"/>
              <a:ext cx="3515503" cy="2037116"/>
            </a:xfrm>
            <a:prstGeom prst="straightConnector1">
              <a:avLst/>
            </a:pr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" name="Google Shape;49;p29"/>
            <p:cNvCxnSpPr/>
            <p:nvPr/>
          </p:nvCxnSpPr>
          <p:spPr>
            <a:xfrm flipH="1" rot="10800000">
              <a:off x="6004643" y="3333750"/>
              <a:ext cx="3149660" cy="1823765"/>
            </a:xfrm>
            <a:prstGeom prst="straightConnector1">
              <a:avLst/>
            </a:pr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" name="Google Shape;50;p29"/>
            <p:cNvCxnSpPr/>
            <p:nvPr/>
          </p:nvCxnSpPr>
          <p:spPr>
            <a:xfrm flipH="1" rot="10800000">
              <a:off x="6388342" y="3549891"/>
              <a:ext cx="2765961" cy="1600149"/>
            </a:xfrm>
            <a:prstGeom prst="straightConnector1">
              <a:avLst/>
            </a:pr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1" name="Google Shape;51;p29"/>
          <p:cNvSpPr txBox="1"/>
          <p:nvPr>
            <p:ph type="title"/>
          </p:nvPr>
        </p:nvSpPr>
        <p:spPr>
          <a:xfrm>
            <a:off x="1625177" y="2209801"/>
            <a:ext cx="8938472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0"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1625176" y="4951266"/>
            <a:ext cx="7069519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sz="2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2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1218883" y="1701800"/>
            <a:ext cx="5082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60"/>
              <a:buNone/>
              <a:defRPr b="1" sz="27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9pPr>
          </a:lstStyle>
          <a:p/>
        </p:txBody>
      </p:sp>
      <p:sp>
        <p:nvSpPr>
          <p:cNvPr id="59" name="Google Shape;59;p30"/>
          <p:cNvSpPr txBox="1"/>
          <p:nvPr>
            <p:ph idx="2" type="body"/>
          </p:nvPr>
        </p:nvSpPr>
        <p:spPr>
          <a:xfrm>
            <a:off x="1218883" y="2717800"/>
            <a:ext cx="5078677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50519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60" name="Google Shape;60;p30"/>
          <p:cNvSpPr txBox="1"/>
          <p:nvPr>
            <p:ph idx="3" type="body"/>
          </p:nvPr>
        </p:nvSpPr>
        <p:spPr>
          <a:xfrm>
            <a:off x="6496644" y="1701800"/>
            <a:ext cx="5082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60"/>
              <a:buNone/>
              <a:defRPr b="1" sz="27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80"/>
              <a:buNone/>
              <a:defRPr b="1" sz="2100"/>
            </a:lvl9pPr>
          </a:lstStyle>
          <a:p/>
        </p:txBody>
      </p:sp>
      <p:sp>
        <p:nvSpPr>
          <p:cNvPr id="61" name="Google Shape;61;p30"/>
          <p:cNvSpPr txBox="1"/>
          <p:nvPr>
            <p:ph idx="4" type="body"/>
          </p:nvPr>
        </p:nvSpPr>
        <p:spPr>
          <a:xfrm>
            <a:off x="6500707" y="2717800"/>
            <a:ext cx="5078677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50519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>
            <a:off x="1218882" y="1701800"/>
            <a:ext cx="4062942" cy="24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b="0" sz="28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>
            <a:off x="1218882" y="4241800"/>
            <a:ext cx="4062942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9pPr>
          </a:lstStyle>
          <a:p/>
        </p:txBody>
      </p:sp>
      <p:sp>
        <p:nvSpPr>
          <p:cNvPr id="77" name="Google Shape;77;p33"/>
          <p:cNvSpPr txBox="1"/>
          <p:nvPr>
            <p:ph idx="2" type="body"/>
          </p:nvPr>
        </p:nvSpPr>
        <p:spPr>
          <a:xfrm>
            <a:off x="5484971" y="584200"/>
            <a:ext cx="6094413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50519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78" name="Google Shape;78;p33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/>
          <p:nvPr>
            <p:ph type="title"/>
          </p:nvPr>
        </p:nvSpPr>
        <p:spPr>
          <a:xfrm>
            <a:off x="1218882" y="1701800"/>
            <a:ext cx="4062942" cy="24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b="0" sz="28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" type="body"/>
          </p:nvPr>
        </p:nvSpPr>
        <p:spPr>
          <a:xfrm>
            <a:off x="1218882" y="4241800"/>
            <a:ext cx="4062942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8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60"/>
              <a:buNone/>
              <a:defRPr sz="1200"/>
            </a:lvl9pPr>
          </a:lstStyle>
          <a:p/>
        </p:txBody>
      </p:sp>
      <p:sp>
        <p:nvSpPr>
          <p:cNvPr descr="An empty placeholder to add an image. Click on the placeholder and select the image that you wish to add." id="84" name="Google Shape;84;p34"/>
          <p:cNvSpPr/>
          <p:nvPr>
            <p:ph idx="2" type="pic"/>
          </p:nvPr>
        </p:nvSpPr>
        <p:spPr>
          <a:xfrm>
            <a:off x="5484971" y="584200"/>
            <a:ext cx="6094413" cy="5588000"/>
          </a:xfrm>
          <a:prstGeom prst="rect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 rot="5400000">
            <a:off x="4167998" y="-1247317"/>
            <a:ext cx="4462272" cy="10360501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 rot="5400000">
            <a:off x="7414141" y="2006957"/>
            <a:ext cx="5588000" cy="2742486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2132317" y="-329235"/>
            <a:ext cx="5588000" cy="7414869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4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85000">
              <a:srgbClr val="0D172F"/>
            </a:gs>
            <a:gs pos="100000">
              <a:srgbClr val="122041"/>
            </a:gs>
          </a:gsLst>
          <a:lin ang="36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5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1" name="Google Shape;11;p25"/>
            <p:cNvSpPr/>
            <p:nvPr/>
          </p:nvSpPr>
          <p:spPr>
            <a:xfrm>
              <a:off x="-9526" y="0"/>
              <a:ext cx="612775" cy="3919538"/>
            </a:xfrm>
            <a:custGeom>
              <a:rect b="b" l="l" r="r" t="t"/>
              <a:pathLst>
                <a:path extrusionOk="0" h="3919538" w="612775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5"/>
            <p:cNvSpPr/>
            <p:nvPr/>
          </p:nvSpPr>
          <p:spPr>
            <a:xfrm>
              <a:off x="-11906" y="0"/>
              <a:ext cx="410751" cy="3421856"/>
            </a:xfrm>
            <a:custGeom>
              <a:rect b="b" l="l" r="r" t="t"/>
              <a:pathLst>
                <a:path extrusionOk="0" h="3421856" w="410751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>
              <a:off x="-7144" y="-2381"/>
              <a:ext cx="238919" cy="2976561"/>
            </a:xfrm>
            <a:custGeom>
              <a:rect b="b" l="l" r="r" t="t"/>
              <a:pathLst>
                <a:path extrusionOk="0" h="2976561" w="238919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5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0519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0" type="dt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625176" y="584200"/>
            <a:ext cx="8735325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/>
              <a:t>Hogyan indul el a számítógép?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625176" y="2616200"/>
            <a:ext cx="87353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AVAGY A BOOT FOLYAMAT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Mi lesz a mai órán?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1218883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“Számítógép bekapcsolása”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Gyakorlatban való elhelyezés</a:t>
            </a: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>
            <a:off x="6500812" y="1706563"/>
            <a:ext cx="5232398" cy="4694236"/>
            <a:chOff x="0" y="0"/>
            <a:chExt cx="5232398" cy="4694236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4185919" cy="103273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63C00"/>
                </a:gs>
                <a:gs pos="50000">
                  <a:srgbClr val="D66400"/>
                </a:gs>
                <a:gs pos="70000">
                  <a:srgbClr val="EB7400"/>
                </a:gs>
                <a:gs pos="100000">
                  <a:srgbClr val="FF8F00"/>
                </a:gs>
              </a:gsLst>
              <a:lin ang="16200000" scaled="0"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30248" y="30248"/>
              <a:ext cx="2984254" cy="97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POST</a:t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50570" y="1220501"/>
              <a:ext cx="4185919" cy="1032732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80818" y="1250749"/>
              <a:ext cx="3103576" cy="97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BIOS / UEFI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95909" y="2441003"/>
              <a:ext cx="4185919" cy="103273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394404"/>
                </a:gs>
                <a:gs pos="50000">
                  <a:srgbClr val="5F6F0F"/>
                </a:gs>
                <a:gs pos="70000">
                  <a:srgbClr val="65741A"/>
                </a:gs>
                <a:gs pos="100000">
                  <a:srgbClr val="C5E22B"/>
                </a:gs>
              </a:gsLst>
              <a:lin ang="16200000" scaled="0"/>
            </a:gra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726157" y="2471251"/>
              <a:ext cx="3108808" cy="97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Bootloader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046479" y="3661504"/>
              <a:ext cx="4185919" cy="1032732"/>
            </a:xfrm>
            <a:prstGeom prst="roundRect">
              <a:avLst>
                <a:gd fmla="val 10000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38100" rotWithShape="0" algn="br" dir="2700000" dist="254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1076727" y="3691752"/>
              <a:ext cx="3103576" cy="972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Operációs Rendszer</a:t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514643" y="790978"/>
              <a:ext cx="671275" cy="671275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5D9C9">
                <a:alpha val="89803"/>
              </a:srgbClr>
            </a:solidFill>
            <a:ln cap="flat" cmpd="sng" w="9525">
              <a:solidFill>
                <a:srgbClr val="F5D9C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3665680" y="790978"/>
              <a:ext cx="369201" cy="505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865214" y="2011480"/>
              <a:ext cx="671275" cy="671275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0CBE1">
                <a:alpha val="89803"/>
              </a:srgbClr>
            </a:solidFill>
            <a:ln cap="flat" cmpd="sng" w="9525">
              <a:solidFill>
                <a:srgbClr val="E0CBE1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4016251" y="2011480"/>
              <a:ext cx="369201" cy="505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210552" y="3231982"/>
              <a:ext cx="671275" cy="671275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3E9CF">
                <a:alpha val="89803"/>
              </a:srgbClr>
            </a:solidFill>
            <a:ln cap="flat" cmpd="sng" w="9525">
              <a:solidFill>
                <a:srgbClr val="E3E9C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4361589" y="3231982"/>
              <a:ext cx="369201" cy="505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képen képernyőkép, lézer látható&#10;&#10;Előfordulhat, hogy az AI által létrehozott tartalom helytelen." id="128" name="Google Shape;1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796" y="2971800"/>
            <a:ext cx="2228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Folyamatábra</a:t>
            </a:r>
            <a:endParaRPr/>
          </a:p>
        </p:txBody>
      </p:sp>
      <p:pic>
        <p:nvPicPr>
          <p:cNvPr descr="A képen szöveg, képernyőkép, Betűtípus, sor látható&#10;&#10;Előfordulhat, hogy az AI által létrehozott tartalom helytelen." id="135" name="Google Shape;13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9324" y="1701797"/>
            <a:ext cx="7499618" cy="4462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POST (Power on  Self Test)</a:t>
            </a:r>
            <a:endParaRPr/>
          </a:p>
        </p:txBody>
      </p:sp>
      <p:pic>
        <p:nvPicPr>
          <p:cNvPr descr="A képen szöveg, ruházat, tábla, művészet látható&#10;&#10;Előfordulhat, hogy az AI által létrehozott tartalom helytelen.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145" y="1706880"/>
            <a:ext cx="3360153" cy="446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>
            <p:ph idx="2" type="body"/>
          </p:nvPr>
        </p:nvSpPr>
        <p:spPr>
          <a:xfrm>
            <a:off x="6500707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Diagnosztikai program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Letesztel: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40"/>
              <a:buChar char="•"/>
            </a:pPr>
            <a:r>
              <a:rPr lang="en-US" sz="2800"/>
              <a:t>Processzor 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40"/>
              <a:buChar char="•"/>
            </a:pPr>
            <a:r>
              <a:rPr lang="en-US" sz="2800"/>
              <a:t>Memória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40"/>
              <a:buChar char="•"/>
            </a:pPr>
            <a:r>
              <a:rPr lang="en-US" sz="2800"/>
              <a:t>Tárhely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40"/>
              <a:buChar char="•"/>
            </a:pPr>
            <a:r>
              <a:rPr lang="en-US" sz="2800"/>
              <a:t>Perifériák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Csipog, ha baja van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 Milyen csipogások vannak?</a:t>
            </a:r>
            <a:endParaRPr/>
          </a:p>
        </p:txBody>
      </p:sp>
      <p:graphicFrame>
        <p:nvGraphicFramePr>
          <p:cNvPr id="150" name="Google Shape;150;p5"/>
          <p:cNvGraphicFramePr/>
          <p:nvPr/>
        </p:nvGraphicFramePr>
        <p:xfrm>
          <a:off x="1219200" y="170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{85113BE7-4523-4F53-9849-DAD77169ED49}</a:tableStyleId>
              </a:tblPr>
              <a:tblGrid>
                <a:gridCol w="5180000"/>
                <a:gridCol w="5180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Csipogás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Jelentése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Egyenletes, rövid sípolás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Rossz tápegység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Hosszú folyamatos sípoló hang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Memória Hiba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Egyenletes, hosszú sípolás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Rossz tápegység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Nincs sípolás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 rendszer nincs csatlakoztatva, vagy nincs bekapcsolva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Nincs sípolás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Sípoló hiba, ha minden rendben van általában egy rövid sípolást hallunk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Egy hosszú, két rövid sípolás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Videókártya hiba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BIOS</a:t>
            </a:r>
            <a:endParaRPr/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lnSpcReduction="20000"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BIOS: Basic Input </a:t>
            </a:r>
            <a:br>
              <a:rPr b="1" lang="en-US"/>
            </a:br>
            <a:r>
              <a:rPr b="1" lang="en-US"/>
              <a:t>Output System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Alapvető bemeneti-kimeneti </a:t>
            </a:r>
            <a:br>
              <a:rPr lang="en-US"/>
            </a:br>
            <a:r>
              <a:rPr lang="en-US"/>
              <a:t>rendszer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Alaplapon van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ROM – Read Only Memory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Csak olvasható memória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Partíciós séma – </a:t>
            </a:r>
            <a:r>
              <a:rPr b="1" lang="en-US"/>
              <a:t>MBR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2 TB max</a:t>
            </a:r>
            <a:endParaRPr/>
          </a:p>
          <a:p>
            <a:pPr indent="-1269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30007" lvl="2" marL="91424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képen szöveg, képernyőkép, képernyő, szoftver látható&#10;&#10;Előfordulhat, hogy az AI által létrehozott tartalom helytelen.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9612" y="1701797"/>
            <a:ext cx="605790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UEFI</a:t>
            </a:r>
            <a:endParaRPr/>
          </a:p>
        </p:txBody>
      </p:sp>
      <p:sp>
        <p:nvSpPr>
          <p:cNvPr id="165" name="Google Shape;165;p7"/>
          <p:cNvSpPr txBox="1"/>
          <p:nvPr>
            <p:ph idx="1" type="body"/>
          </p:nvPr>
        </p:nvSpPr>
        <p:spPr>
          <a:xfrm>
            <a:off x="1218883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fontScale="92500" lnSpcReduction="20000"/>
          </a:bodyPr>
          <a:lstStyle/>
          <a:p>
            <a:pPr indent="-291412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Mi az a UEFI?</a:t>
            </a:r>
            <a:endParaRPr/>
          </a:p>
          <a:p>
            <a:pPr indent="-220938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Char char="•"/>
            </a:pPr>
            <a:r>
              <a:rPr b="1" lang="en-US" sz="2800"/>
              <a:t>Unified Extensible Firmware Interface</a:t>
            </a:r>
            <a:endParaRPr b="1"/>
          </a:p>
          <a:p>
            <a:pPr indent="-220938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Char char="•"/>
            </a:pPr>
            <a:r>
              <a:rPr lang="en-US" sz="2800"/>
              <a:t>Firmware mint a BIOS (BIOS 2.0)</a:t>
            </a:r>
            <a:endParaRPr/>
          </a:p>
          <a:p>
            <a:pPr indent="-220938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Char char="•"/>
            </a:pPr>
            <a:r>
              <a:rPr lang="en-US" sz="2800"/>
              <a:t>Több frissítés</a:t>
            </a:r>
            <a:endParaRPr sz="2800"/>
          </a:p>
          <a:p>
            <a:pPr indent="-28950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Partíciós séma – </a:t>
            </a:r>
            <a:r>
              <a:rPr b="1" lang="en-US" sz="3200"/>
              <a:t>GPT</a:t>
            </a:r>
            <a:endParaRPr b="1"/>
          </a:p>
          <a:p>
            <a:pPr indent="-8936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-8936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-1015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3200"/>
          </a:p>
          <a:p>
            <a:pPr indent="-8936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</p:txBody>
      </p:sp>
      <p:pic>
        <p:nvPicPr>
          <p:cNvPr descr="A képen szöveg, képernyőkép, szoftver, Multimédiás szoftver látható&#10;&#10;Előfordulhat, hogy az AI által létrehozott tartalom helytelen.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9212" y="2209800"/>
            <a:ext cx="5533630" cy="3140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UEFI BIOS Összehasonlítás</a:t>
            </a:r>
            <a:endParaRPr/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1218883" y="205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{85113BE7-4523-4F53-9849-DAD77169ED49}</a:tableStyleId>
              </a:tblPr>
              <a:tblGrid>
                <a:gridCol w="3453500"/>
                <a:gridCol w="3453500"/>
                <a:gridCol w="3453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Jellemző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BIOS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UEFI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Létrejött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1980-as évek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2000-es évek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Kezelőfelület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Szöveges (csak bill.)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Grafikus (egér + bill.)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Indítás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Hagyományos (Legacy)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UEFI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Tárhely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Max 2 TB lemezek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Max 2 ZiB meghajtó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Partíciós séma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MBR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GPT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Boot Loader</a:t>
            </a:r>
            <a:endParaRPr/>
          </a:p>
        </p:txBody>
      </p:sp>
      <p:sp>
        <p:nvSpPr>
          <p:cNvPr id="179" name="Google Shape;179;p9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Az operációs rendszer betöltéséért felelős program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 Boot Manager után veszi át a szerepkört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Feladata: </a:t>
            </a:r>
            <a:r>
              <a:rPr b="1" lang="en-US"/>
              <a:t>Az operációs rendszer betöltése a lemezről a memóriába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(Disk 🡪 RAM)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Itt a kernel-re gondolunk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Általában a Boot Loader az operációs rendszer része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269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Boot Loader Példák</a:t>
            </a:r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LILO – Linux Loader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Windows Boot Loader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GNU GRUB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Része a GRUB Boot Manager-nek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ctrTitle"/>
          </p:nvPr>
        </p:nvSpPr>
        <p:spPr>
          <a:xfrm>
            <a:off x="1625176" y="584200"/>
            <a:ext cx="8735325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/>
              <a:t>Az Operációs Rendszer</a:t>
            </a:r>
            <a:endParaRPr/>
          </a:p>
        </p:txBody>
      </p:sp>
      <p:sp>
        <p:nvSpPr>
          <p:cNvPr id="192" name="Google Shape;192;p11"/>
          <p:cNvSpPr txBox="1"/>
          <p:nvPr>
            <p:ph idx="1" type="subTitle"/>
          </p:nvPr>
        </p:nvSpPr>
        <p:spPr>
          <a:xfrm>
            <a:off x="1625176" y="2616200"/>
            <a:ext cx="87353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Operációs rendszer felépítése</a:t>
            </a:r>
            <a:endParaRPr/>
          </a:p>
        </p:txBody>
      </p:sp>
      <p:pic>
        <p:nvPicPr>
          <p:cNvPr descr="A képen szöveg, kör, képernyőkép, Betűtípus látható&#10;&#10;Előfordulhat, hogy az AI által létrehozott tartalom helytelen." id="198" name="Google Shape;19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812" y="2286000"/>
            <a:ext cx="5078413" cy="361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 txBox="1"/>
          <p:nvPr>
            <p:ph idx="2" type="body"/>
          </p:nvPr>
        </p:nvSpPr>
        <p:spPr>
          <a:xfrm>
            <a:off x="1320456" y="1858467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Alkalmazások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Excel, R6, Discord, Google Chrome stb.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Shell</a:t>
            </a:r>
            <a:r>
              <a:rPr lang="en-US"/>
              <a:t> 🡪 </a:t>
            </a:r>
            <a:r>
              <a:rPr b="1" lang="en-US"/>
              <a:t>Ezzel kezeljük az operációs rendszert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b="1" lang="en-US"/>
              <a:t>GUI: Graphical User Interface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b="1" lang="en-US"/>
              <a:t>CLI: Command Line Interface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Kernel</a:t>
            </a:r>
            <a:r>
              <a:rPr lang="en-US"/>
              <a:t> 🡪 </a:t>
            </a:r>
            <a:r>
              <a:rPr b="1" lang="en-US"/>
              <a:t>kommunikál a hardver elemekkel</a:t>
            </a:r>
            <a:endParaRPr b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Az Operációs rendszer definíciója</a:t>
            </a:r>
            <a:endParaRPr/>
          </a:p>
        </p:txBody>
      </p:sp>
      <p:sp>
        <p:nvSpPr>
          <p:cNvPr id="205" name="Google Shape;205;p13"/>
          <p:cNvSpPr txBox="1"/>
          <p:nvPr>
            <p:ph idx="1" type="body"/>
          </p:nvPr>
        </p:nvSpPr>
        <p:spPr>
          <a:xfrm>
            <a:off x="836613" y="1706880"/>
            <a:ext cx="5460948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lnSpcReduction="20000"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Operációs rendszer: Egy szoftver amely felügyeli a hardver és szoftver erőforrásokat egy számítógépen.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b="1" lang="en-US"/>
              <a:t>Megosztja a számítógép erőforrásait</a:t>
            </a:r>
            <a:r>
              <a:rPr lang="en-US"/>
              <a:t> több futó alkalmazás között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Alacsony szintű szoftver, amely </a:t>
            </a:r>
            <a:r>
              <a:rPr b="1" lang="en-US"/>
              <a:t>alapvető funkciókat tesz lehetővé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Pl.: Windows, Linux, Android, MacOS, IOS</a:t>
            </a:r>
            <a:endParaRPr/>
          </a:p>
          <a:p>
            <a:pPr indent="-1269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képen szöveg, képernyőkép, Betűtípus, szám látható&#10;&#10;Előfordulhat, hogy az AI által létrehozott tartalom helytelen.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707" y="2669871"/>
            <a:ext cx="5078677" cy="2539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Operációs rendszer</a:t>
            </a:r>
            <a:endParaRPr/>
          </a:p>
        </p:txBody>
      </p:sp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 felhasználó kényelmesen és hatékonyan tudjon programokat futtatni.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 számítógép hardverét és szoftverét kezeli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biztosítva a rendszer működését, és megakadályozza, hogy a felhasználói programok zavarják azt.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Az erőforrások kiosztása különböző folyamatokhoz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Memória, Processzor, Bemeneti/ Kimeneti eszközök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Minden program az operációs rendszeren fut.</a:t>
            </a:r>
            <a:endParaRPr b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Operációs rendszer mint felhasználói felület</a:t>
            </a:r>
            <a:endParaRPr/>
          </a:p>
        </p:txBody>
      </p:sp>
      <p:pic>
        <p:nvPicPr>
          <p:cNvPr descr="A képen szöveg, képernyőkép, Betűtípus, szám látható&#10;&#10;Előfordulhat, hogy az AI által létrehozott tartalom helytelen." id="218" name="Google Shape;2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707" y="2669871"/>
            <a:ext cx="5078677" cy="2539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5"/>
          <p:cNvSpPr txBox="1"/>
          <p:nvPr>
            <p:ph idx="1" type="body"/>
          </p:nvPr>
        </p:nvSpPr>
        <p:spPr>
          <a:xfrm>
            <a:off x="989013" y="1706880"/>
            <a:ext cx="5410200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fontScale="92500" lnSpcReduction="1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/>
              <a:t>Felhasználó</a:t>
            </a:r>
            <a:r>
              <a:rPr lang="en-US"/>
              <a:t> </a:t>
            </a:r>
            <a:br>
              <a:rPr lang="en-US"/>
            </a:br>
            <a:r>
              <a:rPr lang="en-US"/>
              <a:t>(Használja a rendszert)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/>
              <a:t>Rendszer- és alkalmazásprogramok</a:t>
            </a:r>
            <a:br>
              <a:rPr lang="en-US"/>
            </a:br>
            <a:r>
              <a:rPr lang="en-US"/>
              <a:t>(Szoftver eszközök a felhasználónak)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/>
              <a:t>Operációs rendszer</a:t>
            </a:r>
            <a:br>
              <a:rPr lang="en-US"/>
            </a:br>
            <a:r>
              <a:rPr lang="en-US"/>
              <a:t>(felügyeli a hardver és szoftver erőforrásokat)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/>
              <a:t>Hardver</a:t>
            </a:r>
            <a:br>
              <a:rPr lang="en-US"/>
            </a:br>
            <a:r>
              <a:rPr lang="en-US"/>
              <a:t>(fizikai eszközök)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Hogy tudsz ennyit beszélni?</a:t>
            </a:r>
            <a:endParaRPr/>
          </a:p>
        </p:txBody>
      </p:sp>
      <p:pic>
        <p:nvPicPr>
          <p:cNvPr descr="A képen vázlat, emlős, Macskafélék, szőrme látható&#10;&#10;Előfordulhat, hogy az AI által létrehozott tartalom helytelen." id="225" name="Google Shape;22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575" y="1701797"/>
            <a:ext cx="4451116" cy="4462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Az operációs rendszer elsődleges céljai</a:t>
            </a:r>
            <a:endParaRPr/>
          </a:p>
        </p:txBody>
      </p:sp>
      <p:sp>
        <p:nvSpPr>
          <p:cNvPr id="231" name="Google Shape;231;p17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Az elsődleges cél, hogy egyszerűen használható, és kényelmes környezet legyen a felhasználói programok futtatására.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Felhasználói kényelem</a:t>
            </a:r>
            <a:r>
              <a:rPr b="1" lang="en-US"/>
              <a:t>:</a:t>
            </a:r>
            <a:r>
              <a:rPr lang="en-US"/>
              <a:t> Használata egyszerű és kényelmes kell hogy legyen, hogy a rendszert egyszerűen tudjuk használni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Programok futtatása</a:t>
            </a:r>
            <a:r>
              <a:rPr b="1" lang="en-US" u="sng"/>
              <a:t>:</a:t>
            </a:r>
            <a:r>
              <a:rPr b="1" lang="en-US"/>
              <a:t> </a:t>
            </a:r>
            <a:r>
              <a:rPr lang="en-US"/>
              <a:t>Biztosítja a futáshoz szükséges környezetet és szolgáltatásokat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Erőforrás-kezelés</a:t>
            </a:r>
            <a:r>
              <a:rPr b="1" lang="en-US" u="sng"/>
              <a:t>:</a:t>
            </a:r>
            <a:r>
              <a:rPr lang="en-US"/>
              <a:t> Az op rendszer menedzseli és elosztja a gép erőforrásait, hogy biztosítsa a tisztességes kihasználtságot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Biztonság</a:t>
            </a:r>
            <a:r>
              <a:rPr b="1" lang="en-US" u="sng"/>
              <a:t>:</a:t>
            </a:r>
            <a:r>
              <a:rPr lang="en-US"/>
              <a:t> A op rendszer védi a rendszer és a felhasználó adatait az engedély nélküli hozzáféréstől</a:t>
            </a:r>
            <a:endParaRPr b="1" u="sng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Másodlagos célok</a:t>
            </a:r>
            <a:endParaRPr/>
          </a:p>
        </p:txBody>
      </p:sp>
      <p:sp>
        <p:nvSpPr>
          <p:cNvPr id="237" name="Google Shape;237;p18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Hatékony erőforrás kezelés:</a:t>
            </a:r>
            <a:r>
              <a:rPr lang="en-US"/>
              <a:t> A számítógépes erőforrások kihasználtságának maxmimalizálása, a rendszer hatékony működésének érdekében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/>
              <a:t>Megbízhatóság:</a:t>
            </a:r>
            <a:r>
              <a:rPr lang="en-US"/>
              <a:t> Megbízhatónak kell lennie a hibák kezelésében, biztosítva a rendszer zavartalan működését.</a:t>
            </a:r>
            <a:endParaRPr b="1" u="sng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Operációs rendszerek Listája</a:t>
            </a:r>
            <a:endParaRPr/>
          </a:p>
        </p:txBody>
      </p:sp>
      <p:sp>
        <p:nvSpPr>
          <p:cNvPr id="243" name="Google Shape;243;p19"/>
          <p:cNvSpPr txBox="1"/>
          <p:nvPr>
            <p:ph idx="1" type="body"/>
          </p:nvPr>
        </p:nvSpPr>
        <p:spPr>
          <a:xfrm>
            <a:off x="1218883" y="1706880"/>
            <a:ext cx="5078677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Windows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macOS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Linux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Unix</a:t>
            </a:r>
            <a:endParaRPr b="1"/>
          </a:p>
        </p:txBody>
      </p:sp>
      <p:pic>
        <p:nvPicPr>
          <p:cNvPr descr="A képen rajzfilm, clipart, hangulatjel, sárga látható&#10;&#10;Előfordulhat, hogy az AI által létrehozott tartalom helytelen." id="244" name="Google Shape;2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707" y="2365150"/>
            <a:ext cx="5078677" cy="3148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Windows</a:t>
            </a:r>
            <a:endParaRPr/>
          </a:p>
        </p:txBody>
      </p:sp>
      <p:sp>
        <p:nvSpPr>
          <p:cNvPr id="250" name="Google Shape;250;p20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Fejlesztő</a:t>
            </a:r>
            <a:r>
              <a:rPr b="1" lang="en-US"/>
              <a:t>: </a:t>
            </a:r>
            <a:r>
              <a:rPr lang="en-US"/>
              <a:t>Microsoft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Főbb jellemzők:</a:t>
            </a:r>
            <a:r>
              <a:rPr lang="en-US"/>
              <a:t> Felhasználóbarát felület, </a:t>
            </a:r>
            <a:r>
              <a:rPr lang="en-US"/>
              <a:t>szoftver kompatibilitás</a:t>
            </a:r>
            <a:r>
              <a:rPr lang="en-US"/>
              <a:t>, hardver támogatás, erős játék támogatottság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Előnyök:</a:t>
            </a:r>
            <a:r>
              <a:rPr lang="en-US"/>
              <a:t> A legtöbb felhasználó számára könnyen használható, Gyakori frissítések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Tipikus felhasználás:</a:t>
            </a:r>
            <a:r>
              <a:rPr lang="en-US"/>
              <a:t> PC-k, üzleti környezet, játékok </a:t>
            </a:r>
            <a:endParaRPr b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macOS</a:t>
            </a:r>
            <a:endParaRPr/>
          </a:p>
        </p:txBody>
      </p:sp>
      <p:sp>
        <p:nvSpPr>
          <p:cNvPr id="256" name="Google Shape;256;p21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Fejlesztő</a:t>
            </a:r>
            <a:r>
              <a:rPr b="1" lang="en-US"/>
              <a:t>: </a:t>
            </a:r>
            <a:r>
              <a:rPr lang="en-US"/>
              <a:t>Apple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Főbb jellemzők:</a:t>
            </a:r>
            <a:r>
              <a:rPr lang="en-US"/>
              <a:t> Elegáns, könnyen használható UI, szoros integráció az Apple ökoszisztémában, szilárd biztonság, magas teljesítmény és stabilitás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Előnyök:</a:t>
            </a:r>
            <a:r>
              <a:rPr lang="en-US"/>
              <a:t> Apple hardverekhez optimalizált, szoros integráció az Apple ökoszisztémában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Tipikus felhasználás:</a:t>
            </a:r>
            <a:r>
              <a:rPr lang="en-US"/>
              <a:t> kreatív iparágak, pc-k, </a:t>
            </a:r>
            <a:r>
              <a:rPr lang="en-US"/>
              <a:t>professzionális</a:t>
            </a:r>
            <a:r>
              <a:rPr lang="en-US"/>
              <a:t> környezet</a:t>
            </a:r>
            <a:endParaRPr b="1"/>
          </a:p>
          <a:p>
            <a:pPr indent="-1269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Linux</a:t>
            </a:r>
            <a:endParaRPr/>
          </a:p>
        </p:txBody>
      </p:sp>
      <p:sp>
        <p:nvSpPr>
          <p:cNvPr id="262" name="Google Shape;262;p22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Fejlesztő</a:t>
            </a:r>
            <a:r>
              <a:rPr lang="en-US"/>
              <a:t>: Közösség által vezérelt (különböző disztribúciók).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Főbb jellemzők</a:t>
            </a:r>
            <a:r>
              <a:rPr lang="en-US"/>
              <a:t>: Nyílt forráskódú és nagymértékben testreszabható, robusztus biztonság és stabilitás, könnyű és régebbi hardverekkel is futtatható, nagy választék disztribúciókból (pl. Ubuntu, Fedora, Debian).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Előnyök</a:t>
            </a:r>
            <a:r>
              <a:rPr lang="en-US"/>
              <a:t>: Ingyenes használat és terjesztés, erős közösségi támogatás, alkalmas szerverekhez és fejlesztői </a:t>
            </a:r>
            <a:r>
              <a:rPr lang="en-US"/>
              <a:t>környezethez</a:t>
            </a:r>
            <a:r>
              <a:rPr lang="en-US"/>
              <a:t>.    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Tipikus felhasználás</a:t>
            </a:r>
            <a:r>
              <a:rPr lang="en-US"/>
              <a:t>: Szerverek és adatközpontok, fejlesztés és programozás, technológiai rajongók személyi számítógépei.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Unix</a:t>
            </a:r>
            <a:endParaRPr/>
          </a:p>
        </p:txBody>
      </p:sp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lnSpcReduction="10000"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Fejlesztő</a:t>
            </a:r>
            <a:r>
              <a:rPr lang="en-US"/>
              <a:t>: Eredetileg AT&amp;T Bell Labs, különböző kereskedelmi és nyílt forráskódú verziók elérhetők.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Főbb jellemzők</a:t>
            </a:r>
            <a:r>
              <a:rPr lang="en-US"/>
              <a:t>: Többfelhasználós és többfeladatos képességek, erős biztonság és stabilitás, hatékony parancssori felület, hordozhatóság különböző </a:t>
            </a:r>
            <a:r>
              <a:rPr lang="en-US"/>
              <a:t>hardver platformok</a:t>
            </a:r>
            <a:r>
              <a:rPr lang="en-US"/>
              <a:t> között.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Előnyök</a:t>
            </a:r>
            <a:r>
              <a:rPr lang="en-US"/>
              <a:t>: Megbízható és robusztus teljesítmény, alkalmas nagy teljesítményű számítástechnikához és szerverekhez, kiterjedt hálózati támogatás.</a:t>
            </a:r>
            <a:endParaRPr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Tipikus felhasználás</a:t>
            </a:r>
            <a:r>
              <a:rPr lang="en-US"/>
              <a:t>: Szerverek és munkaállomások, fejlesztési környezetek, kutatási és oktatási környezet.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Az operációs rendszer részei</a:t>
            </a:r>
            <a:endParaRPr/>
          </a:p>
        </p:txBody>
      </p:sp>
      <p:sp>
        <p:nvSpPr>
          <p:cNvPr id="274" name="Google Shape;274;p24"/>
          <p:cNvSpPr txBox="1"/>
          <p:nvPr>
            <p:ph idx="1" type="body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304747" lvl="0" marL="3047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Shell</a:t>
            </a:r>
            <a:r>
              <a:rPr lang="en-US"/>
              <a:t>: az oprendszer legkülső rétege, amellyel a felhasználó interaktál. Értelmezi az operációs rendszer számára a bemeneti adatokat, és kezeli a kimeneti adatokat</a:t>
            </a:r>
            <a:endParaRPr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b="1" lang="en-US"/>
              <a:t>CLI (Command Line Interface)</a:t>
            </a:r>
            <a:endParaRPr b="1"/>
          </a:p>
          <a:p>
            <a:pPr indent="-23160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Char char="•"/>
            </a:pPr>
            <a:r>
              <a:rPr b="1" lang="en-US"/>
              <a:t>GUI (Graphical User Interface)</a:t>
            </a:r>
            <a:endParaRPr b="1"/>
          </a:p>
          <a:p>
            <a:pPr indent="-304747" lvl="0" marL="304747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Kernel</a:t>
            </a:r>
            <a:r>
              <a:rPr lang="en-US"/>
              <a:t>: az </a:t>
            </a:r>
            <a:r>
              <a:rPr lang="en-US"/>
              <a:t>op rendszer</a:t>
            </a:r>
            <a:r>
              <a:rPr lang="en-US"/>
              <a:t> belső része. A kernel az elsődleges interfész az operációs rendszer és a hardver között.</a:t>
            </a:r>
            <a:endParaRPr/>
          </a:p>
          <a:p>
            <a:pPr indent="-109686" lvl="1" marL="60949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16x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2025-09-12T11:51:41Z</dcterms:created>
  <dc:creator>Virág István Gábor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