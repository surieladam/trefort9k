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4" roundtripDataSignature="AMtx7mh6MNh/aGGzQARjSdEWqIbSfnzJ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zakaszfejléc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40"/>
          <p:cNvGrpSpPr/>
          <p:nvPr/>
        </p:nvGrpSpPr>
        <p:grpSpPr>
          <a:xfrm>
            <a:off x="5638802" y="4145284"/>
            <a:ext cx="3515503" cy="2731407"/>
            <a:chOff x="5638800" y="3108960"/>
            <a:chExt cx="3515503" cy="2048555"/>
          </a:xfrm>
        </p:grpSpPr>
        <p:cxnSp>
          <p:nvCxnSpPr>
            <p:cNvPr id="21" name="Google Shape;21;p40"/>
            <p:cNvCxnSpPr/>
            <p:nvPr/>
          </p:nvCxnSpPr>
          <p:spPr>
            <a:xfrm flipH="1" rot="10800000">
              <a:off x="5638800" y="3108960"/>
              <a:ext cx="3515503" cy="2037116"/>
            </a:xfrm>
            <a:prstGeom prst="straightConnector1">
              <a:avLst/>
            </a:prstGeom>
            <a:noFill/>
            <a:ln cap="flat" cmpd="sng" w="38100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40"/>
            <p:cNvCxnSpPr/>
            <p:nvPr/>
          </p:nvCxnSpPr>
          <p:spPr>
            <a:xfrm flipH="1" rot="10800000">
              <a:off x="6004643" y="3333750"/>
              <a:ext cx="3149660" cy="1823765"/>
            </a:xfrm>
            <a:prstGeom prst="straightConnector1">
              <a:avLst/>
            </a:prstGeom>
            <a:noFill/>
            <a:ln cap="flat" cmpd="sng" w="28575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" name="Google Shape;23;p40"/>
            <p:cNvCxnSpPr/>
            <p:nvPr/>
          </p:nvCxnSpPr>
          <p:spPr>
            <a:xfrm flipH="1" rot="10800000">
              <a:off x="6388342" y="3549891"/>
              <a:ext cx="2765961" cy="1600149"/>
            </a:xfrm>
            <a:prstGeom prst="straightConnector1">
              <a:avLst/>
            </a:prstGeom>
            <a:noFill/>
            <a:ln cap="flat" cmpd="sng" w="25400">
              <a:solidFill>
                <a:srgbClr val="004C4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4" name="Google Shape;24;p40"/>
          <p:cNvSpPr txBox="1"/>
          <p:nvPr>
            <p:ph type="title"/>
          </p:nvPr>
        </p:nvSpPr>
        <p:spPr>
          <a:xfrm>
            <a:off x="1219200" y="2209804"/>
            <a:ext cx="6705600" cy="276433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51"/>
              <a:buFont typeface="Calibri"/>
              <a:buNone/>
              <a:defRPr b="0" sz="405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" type="body"/>
          </p:nvPr>
        </p:nvSpPr>
        <p:spPr>
          <a:xfrm>
            <a:off x="1219200" y="4951269"/>
            <a:ext cx="5303520" cy="122093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1"/>
              <a:buNone/>
              <a:defRPr sz="2101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575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40"/>
              <a:buNone/>
              <a:defRPr sz="1425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40"/>
              <a:buNone/>
              <a:defRPr sz="1425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40"/>
              <a:buNone/>
              <a:defRPr sz="1425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40"/>
              <a:buNone/>
              <a:defRPr sz="1425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40"/>
              <a:buNone/>
              <a:defRPr sz="1425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40"/>
              <a:buNone/>
              <a:defRPr sz="1425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0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0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0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tartalom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1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1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dia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42"/>
          <p:cNvGrpSpPr/>
          <p:nvPr/>
        </p:nvGrpSpPr>
        <p:grpSpPr>
          <a:xfrm>
            <a:off x="5638802" y="4145284"/>
            <a:ext cx="3515503" cy="2731407"/>
            <a:chOff x="5638800" y="3108960"/>
            <a:chExt cx="3515503" cy="2048555"/>
          </a:xfrm>
        </p:grpSpPr>
        <p:cxnSp>
          <p:nvCxnSpPr>
            <p:cNvPr id="37" name="Google Shape;37;p42"/>
            <p:cNvCxnSpPr/>
            <p:nvPr/>
          </p:nvCxnSpPr>
          <p:spPr>
            <a:xfrm flipH="1" rot="10800000">
              <a:off x="5638800" y="3108960"/>
              <a:ext cx="3515503" cy="2037116"/>
            </a:xfrm>
            <a:prstGeom prst="straightConnector1">
              <a:avLst/>
            </a:prstGeom>
            <a:noFill/>
            <a:ln cap="flat" cmpd="sng" w="38100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" name="Google Shape;38;p42"/>
            <p:cNvCxnSpPr/>
            <p:nvPr/>
          </p:nvCxnSpPr>
          <p:spPr>
            <a:xfrm flipH="1" rot="10800000">
              <a:off x="6004643" y="3333750"/>
              <a:ext cx="3149660" cy="1823765"/>
            </a:xfrm>
            <a:prstGeom prst="straightConnector1">
              <a:avLst/>
            </a:prstGeom>
            <a:noFill/>
            <a:ln cap="flat" cmpd="sng" w="28575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" name="Google Shape;39;p42"/>
            <p:cNvCxnSpPr/>
            <p:nvPr/>
          </p:nvCxnSpPr>
          <p:spPr>
            <a:xfrm flipH="1" rot="10800000">
              <a:off x="6388342" y="3549891"/>
              <a:ext cx="2765961" cy="1600149"/>
            </a:xfrm>
            <a:prstGeom prst="straightConnector1">
              <a:avLst/>
            </a:prstGeom>
            <a:noFill/>
            <a:ln cap="flat" cmpd="sng" w="25400">
              <a:solidFill>
                <a:srgbClr val="004C4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0" name="Google Shape;40;p42"/>
          <p:cNvGrpSpPr/>
          <p:nvPr/>
        </p:nvGrpSpPr>
        <p:grpSpPr>
          <a:xfrm>
            <a:off x="-6688" y="6057152"/>
            <a:ext cx="4125119" cy="820207"/>
            <a:chOff x="-6689" y="4553748"/>
            <a:chExt cx="4125119" cy="615155"/>
          </a:xfrm>
        </p:grpSpPr>
        <p:sp>
          <p:nvSpPr>
            <p:cNvPr id="41" name="Google Shape;41;p42"/>
            <p:cNvSpPr/>
            <p:nvPr/>
          </p:nvSpPr>
          <p:spPr>
            <a:xfrm rot="-5400000">
              <a:off x="1754302" y="2802395"/>
              <a:ext cx="612775" cy="4115481"/>
            </a:xfrm>
            <a:custGeom>
              <a:rect b="b" l="l" r="r" t="t"/>
              <a:pathLst>
                <a:path extrusionOk="0" h="4115481" w="612775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cap="flat" cmpd="sng" w="38100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2"/>
            <p:cNvSpPr/>
            <p:nvPr/>
          </p:nvSpPr>
          <p:spPr>
            <a:xfrm rot="-5400000">
              <a:off x="1604659" y="3152814"/>
              <a:ext cx="410751" cy="3621427"/>
            </a:xfrm>
            <a:custGeom>
              <a:rect b="b" l="l" r="r" t="t"/>
              <a:pathLst>
                <a:path extrusionOk="0" h="3621427" w="410751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cap="flat" cmpd="sng" w="28575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42"/>
            <p:cNvSpPr/>
            <p:nvPr/>
          </p:nvSpPr>
          <p:spPr>
            <a:xfrm rot="-5400000">
              <a:off x="1462308" y="3453376"/>
              <a:ext cx="241768" cy="3179761"/>
            </a:xfrm>
            <a:custGeom>
              <a:rect b="b" l="l" r="r" t="t"/>
              <a:pathLst>
                <a:path extrusionOk="0" h="3179761" w="241768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cap="flat" cmpd="sng" w="25400">
              <a:solidFill>
                <a:srgbClr val="004C4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" name="Google Shape;44;p42"/>
          <p:cNvSpPr txBox="1"/>
          <p:nvPr>
            <p:ph type="ctrTitle"/>
          </p:nvPr>
        </p:nvSpPr>
        <p:spPr>
          <a:xfrm>
            <a:off x="1219200" y="584203"/>
            <a:ext cx="6553200" cy="20002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51"/>
              <a:buFont typeface="Calibri"/>
              <a:buNone/>
              <a:defRPr sz="4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" type="subTitle"/>
          </p:nvPr>
        </p:nvSpPr>
        <p:spPr>
          <a:xfrm>
            <a:off x="1219200" y="26162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1"/>
              <a:buNone/>
              <a:defRPr sz="2101" cap="none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42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2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Összehasonlítás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" type="body"/>
          </p:nvPr>
        </p:nvSpPr>
        <p:spPr>
          <a:xfrm>
            <a:off x="914400" y="1701800"/>
            <a:ext cx="38130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1"/>
              <a:buNone/>
              <a:defRPr b="0" sz="2101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21"/>
              <a:buNone/>
              <a:defRPr b="1" sz="2026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9pPr>
          </a:lstStyle>
          <a:p/>
        </p:txBody>
      </p:sp>
      <p:sp>
        <p:nvSpPr>
          <p:cNvPr id="52" name="Google Shape;52;p43"/>
          <p:cNvSpPr txBox="1"/>
          <p:nvPr>
            <p:ph idx="2" type="body"/>
          </p:nvPr>
        </p:nvSpPr>
        <p:spPr>
          <a:xfrm>
            <a:off x="914401" y="2717800"/>
            <a:ext cx="3810000" cy="3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Autofit/>
          </a:bodyPr>
          <a:lstStyle>
            <a:lvl1pPr indent="-362013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Char char="•"/>
              <a:defRPr sz="2101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3pPr>
            <a:lvl4pPr indent="-3048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5pPr>
            <a:lvl6pPr indent="-3048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6pPr>
            <a:lvl7pPr indent="-3048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7pPr>
            <a:lvl8pPr indent="-3048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8pPr>
            <a:lvl9pPr indent="-3048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9pPr>
          </a:lstStyle>
          <a:p/>
        </p:txBody>
      </p:sp>
      <p:sp>
        <p:nvSpPr>
          <p:cNvPr id="53" name="Google Shape;53;p43"/>
          <p:cNvSpPr txBox="1"/>
          <p:nvPr>
            <p:ph idx="3" type="body"/>
          </p:nvPr>
        </p:nvSpPr>
        <p:spPr>
          <a:xfrm>
            <a:off x="4873752" y="1701800"/>
            <a:ext cx="38130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1"/>
              <a:buNone/>
              <a:defRPr b="0" sz="2101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21"/>
              <a:buNone/>
              <a:defRPr b="1" sz="2026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575"/>
            </a:lvl9pPr>
          </a:lstStyle>
          <a:p/>
        </p:txBody>
      </p:sp>
      <p:sp>
        <p:nvSpPr>
          <p:cNvPr id="54" name="Google Shape;54;p43"/>
          <p:cNvSpPr txBox="1"/>
          <p:nvPr>
            <p:ph idx="4" type="body"/>
          </p:nvPr>
        </p:nvSpPr>
        <p:spPr>
          <a:xfrm>
            <a:off x="4876801" y="2717800"/>
            <a:ext cx="3810000" cy="3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Autofit/>
          </a:bodyPr>
          <a:lstStyle>
            <a:lvl1pPr indent="-362013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Char char="•"/>
              <a:defRPr sz="2101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3pPr>
            <a:lvl4pPr indent="-3048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5pPr>
            <a:lvl6pPr indent="-3048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6pPr>
            <a:lvl7pPr indent="-3048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7pPr>
            <a:lvl8pPr indent="-3048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8pPr>
            <a:lvl9pPr indent="-3048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9pPr>
          </a:lstStyle>
          <a:p/>
        </p:txBody>
      </p:sp>
      <p:sp>
        <p:nvSpPr>
          <p:cNvPr id="55" name="Google Shape;55;p43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rtalomrész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" type="body"/>
          </p:nvPr>
        </p:nvSpPr>
        <p:spPr>
          <a:xfrm>
            <a:off x="914401" y="1706880"/>
            <a:ext cx="3810000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62013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Char char="•"/>
              <a:defRPr sz="2101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3pPr>
            <a:lvl4pPr indent="-3048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5pPr>
            <a:lvl6pPr indent="-3048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6pPr>
            <a:lvl7pPr indent="-3048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7pPr>
            <a:lvl8pPr indent="-3048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8pPr>
            <a:lvl9pPr indent="-3048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9pPr>
          </a:lstStyle>
          <a:p/>
        </p:txBody>
      </p:sp>
      <p:sp>
        <p:nvSpPr>
          <p:cNvPr id="61" name="Google Shape;61;p44"/>
          <p:cNvSpPr txBox="1"/>
          <p:nvPr>
            <p:ph idx="2" type="body"/>
          </p:nvPr>
        </p:nvSpPr>
        <p:spPr>
          <a:xfrm>
            <a:off x="4876801" y="1706880"/>
            <a:ext cx="3810000" cy="446532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62013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Char char="•"/>
              <a:defRPr sz="2101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3pPr>
            <a:lvl4pPr indent="-3048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5pPr>
            <a:lvl6pPr indent="-3048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6pPr>
            <a:lvl7pPr indent="-3048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7pPr>
            <a:lvl8pPr indent="-3048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8pPr>
            <a:lvl9pPr indent="-3048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9pPr>
          </a:lstStyle>
          <a:p/>
        </p:txBody>
      </p:sp>
      <p:sp>
        <p:nvSpPr>
          <p:cNvPr id="62" name="Google Shape;62;p44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sak cím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5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5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res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talomrész képaláírással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/>
          <p:nvPr>
            <p:ph type="title"/>
          </p:nvPr>
        </p:nvSpPr>
        <p:spPr>
          <a:xfrm>
            <a:off x="914400" y="1701800"/>
            <a:ext cx="30480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1"/>
              <a:buFont typeface="Calibri"/>
              <a:buNone/>
              <a:defRPr b="0" sz="2101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" type="body"/>
          </p:nvPr>
        </p:nvSpPr>
        <p:spPr>
          <a:xfrm>
            <a:off x="914400" y="4241800"/>
            <a:ext cx="3048000" cy="19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80"/>
              <a:buNone/>
              <a:defRPr sz="975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7" name="Google Shape;77;p47"/>
          <p:cNvSpPr txBox="1"/>
          <p:nvPr>
            <p:ph idx="2" type="body"/>
          </p:nvPr>
        </p:nvSpPr>
        <p:spPr>
          <a:xfrm>
            <a:off x="4114800" y="584200"/>
            <a:ext cx="4572000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62013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Char char="•"/>
              <a:defRPr sz="2101"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3pPr>
            <a:lvl4pPr indent="-3048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5pPr>
            <a:lvl6pPr indent="-3048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6pPr>
            <a:lvl7pPr indent="-3048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7pPr>
            <a:lvl8pPr indent="-3048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8pPr>
            <a:lvl9pPr indent="-3048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500"/>
            </a:lvl9pPr>
          </a:lstStyle>
          <a:p/>
        </p:txBody>
      </p:sp>
      <p:sp>
        <p:nvSpPr>
          <p:cNvPr id="78" name="Google Shape;78;p47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7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ép képaláírással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8"/>
          <p:cNvSpPr txBox="1"/>
          <p:nvPr>
            <p:ph type="title"/>
          </p:nvPr>
        </p:nvSpPr>
        <p:spPr>
          <a:xfrm>
            <a:off x="914400" y="1701800"/>
            <a:ext cx="30480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1"/>
              <a:buFont typeface="Calibri"/>
              <a:buNone/>
              <a:defRPr b="0" sz="2101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8"/>
          <p:cNvSpPr txBox="1"/>
          <p:nvPr>
            <p:ph idx="1" type="body"/>
          </p:nvPr>
        </p:nvSpPr>
        <p:spPr>
          <a:xfrm>
            <a:off x="914400" y="4241800"/>
            <a:ext cx="3048000" cy="19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80"/>
              <a:buNone/>
              <a:defRPr sz="975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descr="An empty placeholder to add an image. Click on the placeholder and select the image that you wish to add." id="84" name="Google Shape;84;p48"/>
          <p:cNvSpPr/>
          <p:nvPr>
            <p:ph idx="2" type="pic"/>
          </p:nvPr>
        </p:nvSpPr>
        <p:spPr>
          <a:xfrm>
            <a:off x="4114800" y="584200"/>
            <a:ext cx="4572000" cy="5588000"/>
          </a:xfrm>
          <a:prstGeom prst="rect">
            <a:avLst/>
          </a:prstGeom>
          <a:noFill/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" name="Google Shape;85;p48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8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8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függőleges szöveg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9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9"/>
          <p:cNvSpPr txBox="1"/>
          <p:nvPr>
            <p:ph idx="1" type="body"/>
          </p:nvPr>
        </p:nvSpPr>
        <p:spPr>
          <a:xfrm rot="5400000">
            <a:off x="2569465" y="46733"/>
            <a:ext cx="4462272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91" name="Google Shape;91;p49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9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9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üggőleges cím és szöveg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0"/>
          <p:cNvSpPr txBox="1"/>
          <p:nvPr>
            <p:ph type="title"/>
          </p:nvPr>
        </p:nvSpPr>
        <p:spPr>
          <a:xfrm rot="5400000">
            <a:off x="4864100" y="2349500"/>
            <a:ext cx="5588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0"/>
          <p:cNvSpPr txBox="1"/>
          <p:nvPr>
            <p:ph idx="1" type="body"/>
          </p:nvPr>
        </p:nvSpPr>
        <p:spPr>
          <a:xfrm rot="5400000">
            <a:off x="901700" y="596900"/>
            <a:ext cx="5588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/>
        </p:txBody>
      </p:sp>
      <p:sp>
        <p:nvSpPr>
          <p:cNvPr id="97" name="Google Shape;97;p50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0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0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85000">
              <a:srgbClr val="0D172F"/>
            </a:gs>
            <a:gs pos="100000">
              <a:srgbClr val="122041"/>
            </a:gs>
          </a:gsLst>
          <a:lin ang="36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9"/>
          <p:cNvGrpSpPr/>
          <p:nvPr/>
        </p:nvGrpSpPr>
        <p:grpSpPr>
          <a:xfrm>
            <a:off x="-11904" y="-3174"/>
            <a:ext cx="615155" cy="5229225"/>
            <a:chOff x="-11906" y="-2381"/>
            <a:chExt cx="615155" cy="3921919"/>
          </a:xfrm>
        </p:grpSpPr>
        <p:sp>
          <p:nvSpPr>
            <p:cNvPr id="11" name="Google Shape;11;p39"/>
            <p:cNvSpPr/>
            <p:nvPr/>
          </p:nvSpPr>
          <p:spPr>
            <a:xfrm>
              <a:off x="-9526" y="0"/>
              <a:ext cx="612775" cy="3919538"/>
            </a:xfrm>
            <a:custGeom>
              <a:rect b="b" l="l" r="r" t="t"/>
              <a:pathLst>
                <a:path extrusionOk="0" h="3919538" w="612775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cap="flat" cmpd="sng" w="38100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39"/>
            <p:cNvSpPr/>
            <p:nvPr/>
          </p:nvSpPr>
          <p:spPr>
            <a:xfrm>
              <a:off x="-11906" y="0"/>
              <a:ext cx="410751" cy="3421856"/>
            </a:xfrm>
            <a:custGeom>
              <a:rect b="b" l="l" r="r" t="t"/>
              <a:pathLst>
                <a:path extrusionOk="0" h="3421856" w="410751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cap="flat" cmpd="sng" w="28575">
              <a:solidFill>
                <a:srgbClr val="00727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39"/>
            <p:cNvSpPr/>
            <p:nvPr/>
          </p:nvSpPr>
          <p:spPr>
            <a:xfrm>
              <a:off x="-7144" y="-2381"/>
              <a:ext cx="238919" cy="2976561"/>
            </a:xfrm>
            <a:custGeom>
              <a:rect b="b" l="l" r="r" t="t"/>
              <a:pathLst>
                <a:path extrusionOk="0" h="2976561" w="238919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cap="flat" cmpd="sng" w="25400">
              <a:solidFill>
                <a:srgbClr val="004C4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39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Calibri"/>
              <a:buNone/>
              <a:defRPr b="0" i="0" sz="270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9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>
            <a:lvl1pPr indent="-362013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101"/>
              <a:buFont typeface="Arial"/>
              <a:buChar char="•"/>
              <a:defRPr b="0" i="0" sz="2101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9"/>
          <p:cNvSpPr txBox="1"/>
          <p:nvPr>
            <p:ph idx="10" type="dt"/>
          </p:nvPr>
        </p:nvSpPr>
        <p:spPr>
          <a:xfrm>
            <a:off x="914400" y="6356355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9"/>
          <p:cNvSpPr txBox="1"/>
          <p:nvPr>
            <p:ph idx="11" type="ftr"/>
          </p:nvPr>
        </p:nvSpPr>
        <p:spPr>
          <a:xfrm>
            <a:off x="2590800" y="635635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2" type="sldNum"/>
          </p:nvPr>
        </p:nvSpPr>
        <p:spPr>
          <a:xfrm>
            <a:off x="7924801" y="6356355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title"/>
          </p:nvPr>
        </p:nvSpPr>
        <p:spPr>
          <a:xfrm>
            <a:off x="1219200" y="2209804"/>
            <a:ext cx="6705600" cy="276433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/>
              <a:t>IP címek – Hálózati alapok</a:t>
            </a:r>
            <a:endParaRPr/>
          </a:p>
        </p:txBody>
      </p:sp>
      <p:sp>
        <p:nvSpPr>
          <p:cNvPr id="105" name="Google Shape;105;p1"/>
          <p:cNvSpPr txBox="1"/>
          <p:nvPr>
            <p:ph idx="1" type="body"/>
          </p:nvPr>
        </p:nvSpPr>
        <p:spPr>
          <a:xfrm>
            <a:off x="1219200" y="4951269"/>
            <a:ext cx="5303520" cy="122093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Mi az az IP cím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Az IP-cím egy </a:t>
            </a:r>
            <a:r>
              <a:rPr b="1" lang="en-US"/>
              <a:t>egyedi azonosító</a:t>
            </a:r>
            <a:endParaRPr b="1"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amelyet egy </a:t>
            </a:r>
            <a:r>
              <a:rPr b="1" lang="en-US"/>
              <a:t>számítógépnek vagy más hálózati eszköznek adnak</a:t>
            </a:r>
            <a:r>
              <a:rPr lang="en-US"/>
              <a:t> 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hálózaton belüli kommunikációhoz szükséges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IP: Internet Protocol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Két verzió</a:t>
            </a:r>
            <a:r>
              <a:rPr lang="en-US"/>
              <a:t>: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IPv4</a:t>
            </a:r>
            <a:r>
              <a:rPr lang="en-US"/>
              <a:t>: 32-bit hosszú, 4db 8 bites részre van tagolva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IPv6</a:t>
            </a:r>
            <a:r>
              <a:rPr lang="en-US"/>
              <a:t>: 128-bit hosszú, 8db 16 bites részre van tagolva</a:t>
            </a:r>
            <a:endParaRPr b="1" u="sng"/>
          </a:p>
          <a:p>
            <a:pPr indent="-95211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IPv4-es cím példa</a:t>
            </a:r>
            <a:endParaRPr/>
          </a:p>
        </p:txBody>
      </p:sp>
      <p:pic>
        <p:nvPicPr>
          <p:cNvPr descr="A képen szöveg, képernyőkép, Betűtípus, tervezés látható&#10;&#10;Előfordulhat, hogy az AI által létrehozott tartalom helytelen." id="117" name="Google Shape;11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747044"/>
            <a:ext cx="7772400" cy="437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IPv6 cím példa</a:t>
            </a:r>
            <a:endParaRPr/>
          </a:p>
        </p:txBody>
      </p:sp>
      <p:pic>
        <p:nvPicPr>
          <p:cNvPr descr="A képen szöveg, képernyőkép, Betűtípus, sor látható&#10;&#10;Előfordulhat, hogy az AI által létrehozott tartalom helytelen." id="123" name="Google Shape;12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747044"/>
            <a:ext cx="7772400" cy="437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Hogyan tudom meg az IP címem (Windows)</a:t>
            </a:r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Parancssor, Powershell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Ipcofig</a:t>
            </a:r>
            <a:endParaRPr/>
          </a:p>
          <a:p>
            <a:pPr indent="0" lvl="1" marL="28349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062" y="2667000"/>
            <a:ext cx="7249537" cy="3077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Hogyan tudom meg az IP címem (Linux)</a:t>
            </a:r>
            <a:endParaRPr/>
          </a:p>
        </p:txBody>
      </p:sp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Terminal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ip a s</a:t>
            </a:r>
            <a:endParaRPr/>
          </a:p>
          <a:p>
            <a:pPr indent="0" lvl="1" marL="28349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28" y="2743200"/>
            <a:ext cx="8392143" cy="2968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DNS</a:t>
            </a:r>
            <a:endParaRPr/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DNS: Domain Name Service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Ip címek 🡪 emberek által értelmezhető nevek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Pl.: 213.253.214.238 🡪 trefort.bmszc.hu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nslookup –al le tudjuk kérdezni, melyik Domain névhez melyik IP cím tartozik</a:t>
            </a:r>
            <a:endParaRPr/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3424989"/>
            <a:ext cx="6477000" cy="3087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Ping</a:t>
            </a:r>
            <a:endParaRPr/>
          </a:p>
        </p:txBody>
      </p:sp>
      <p:sp>
        <p:nvSpPr>
          <p:cNvPr id="150" name="Google Shape;150;p8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Egy hálózati parancs / eszköz, amivel egy másik számítógépet tudunk ellenőrizni, hogy elérhető -e 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ping 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Működik Domain névvel / ip címmel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Kiírja a késleltetést 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  <a:p>
            <a:pPr indent="-95211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</p:txBody>
      </p:sp>
      <p:pic>
        <p:nvPicPr>
          <p:cNvPr id="151" name="Google Shape;1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19" y="3429000"/>
            <a:ext cx="8059182" cy="1409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Privát / Publikus IP-k</a:t>
            </a: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3 db privát IP cím tartomány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10.0.0.0 10.255.255.255 (17 mill)	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172.16.0.0 172.16.31.255.255 (bő 1 mill)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192.168.0.0 192.168.255.255 (bő 65k)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Általában 1 db publikus és több privát IP cím van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képen szöveg, diagram, tervezés látható&#10;&#10;Előfordulhat, hogy az AI által létrehozott tartalom helytelen." id="162" name="Google Shape;162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738" y="1077814"/>
            <a:ext cx="8359775" cy="4702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ctrTitle"/>
          </p:nvPr>
        </p:nvSpPr>
        <p:spPr>
          <a:xfrm>
            <a:off x="1219200" y="584203"/>
            <a:ext cx="6553200" cy="20002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/>
              <a:t>Virtualizáció alapjai</a:t>
            </a:r>
            <a:endParaRPr/>
          </a:p>
        </p:txBody>
      </p:sp>
      <p:sp>
        <p:nvSpPr>
          <p:cNvPr id="168" name="Google Shape;168;p11"/>
          <p:cNvSpPr txBox="1"/>
          <p:nvPr>
            <p:ph idx="1" type="subTitle"/>
          </p:nvPr>
        </p:nvSpPr>
        <p:spPr>
          <a:xfrm>
            <a:off x="1219200" y="26162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Virtuális gépek</a:t>
            </a:r>
            <a:endParaRPr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A virtuális gépek olyan számítógépek, amelyek igazi, fizikaI gépenek futnak az alkalmazásokhoz hasonlóan.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Egy fizikai gépen akár több virtuális gépet lehet futtatni.</a:t>
            </a:r>
            <a:endParaRPr b="1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Ezt egy </a:t>
            </a:r>
            <a:r>
              <a:rPr b="1" lang="en-US"/>
              <a:t>virtualizációs platform</a:t>
            </a:r>
            <a:r>
              <a:rPr b="1" lang="en-US" u="sng"/>
              <a:t> </a:t>
            </a:r>
            <a:r>
              <a:rPr lang="en-US"/>
              <a:t>teszi lehetővé. </a:t>
            </a:r>
            <a:r>
              <a:rPr b="1" lang="en-US"/>
              <a:t>A virtuális gépeknek nincs saját processzoruk, memóriájuk</a:t>
            </a:r>
            <a:r>
              <a:rPr lang="en-US"/>
              <a:t>, többnyire </a:t>
            </a:r>
            <a:r>
              <a:rPr b="1" lang="en-US"/>
              <a:t>saját háttértáruk sincs</a:t>
            </a:r>
            <a:r>
              <a:rPr lang="en-US"/>
              <a:t>, hanem a </a:t>
            </a:r>
            <a:r>
              <a:rPr b="1" lang="en-US"/>
              <a:t>gazdagép fizikai eszközeit használják</a:t>
            </a:r>
            <a:r>
              <a:rPr lang="en-US"/>
              <a:t>.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A virtuális gépet futtató számítógépet </a:t>
            </a:r>
            <a:r>
              <a:rPr b="1" lang="en-US"/>
              <a:t>Host</a:t>
            </a:r>
            <a:r>
              <a:rPr b="1" lang="en-US"/>
              <a:t>-nak szokás hívni, amíg a virtuális gépet </a:t>
            </a:r>
            <a:r>
              <a:rPr b="1" lang="en-US"/>
              <a:t>Guest</a:t>
            </a:r>
            <a:r>
              <a:rPr b="1" lang="en-US"/>
              <a:t>-nek.</a:t>
            </a:r>
            <a:endParaRPr b="1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A virtuális gépekre gyakran hivatkoznak </a:t>
            </a:r>
            <a:r>
              <a:rPr b="1" lang="en-US"/>
              <a:t>VM </a:t>
            </a:r>
            <a:r>
              <a:rPr lang="en-US"/>
              <a:t>néven is.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Hypervisor</a:t>
            </a:r>
            <a:endParaRPr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A  </a:t>
            </a:r>
            <a:r>
              <a:rPr b="1" lang="en-US"/>
              <a:t>hypervisor</a:t>
            </a:r>
            <a:r>
              <a:rPr lang="en-US"/>
              <a:t> vagy más néven VMM (Virtual Machine Manager) a virtualizációs platform része, és a következő feladatokat látja el: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rendelkezésre bocsájtja</a:t>
            </a:r>
            <a:r>
              <a:rPr b="1" lang="en-US"/>
              <a:t> </a:t>
            </a:r>
            <a:r>
              <a:rPr lang="en-US"/>
              <a:t>a host memóriájának egy részét, illetve lehetővé teszi a processzorának és egyéb eszközeinek a használatát a guest számítógépek számára;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felügyeli</a:t>
            </a:r>
            <a:r>
              <a:rPr lang="en-US"/>
              <a:t> a guestek </a:t>
            </a:r>
            <a:r>
              <a:rPr b="1" lang="en-US"/>
              <a:t>izolált </a:t>
            </a:r>
            <a:r>
              <a:rPr lang="en-US"/>
              <a:t>(elszigetelt) </a:t>
            </a:r>
            <a:r>
              <a:rPr b="1" lang="en-US"/>
              <a:t>futását</a:t>
            </a:r>
            <a:r>
              <a:rPr lang="en-US"/>
              <a:t>, megakadályozza, hogy a gugestek egymás vagy a host adatait olvassák;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Szabályozza</a:t>
            </a:r>
            <a:r>
              <a:rPr b="1" lang="en-US"/>
              <a:t> </a:t>
            </a:r>
            <a:r>
              <a:rPr lang="en-US"/>
              <a:t>hogy a guestek mely, hosthoz csatlakoztatott eszközökhöz férnek hozzá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1219200" y="2209804"/>
            <a:ext cx="6705600" cy="276433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/>
              <a:t>Hypervisorok típusai</a:t>
            </a:r>
            <a:endParaRPr/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1219200" y="4951269"/>
            <a:ext cx="5303520" cy="122093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1-ES VAGY 2-ES?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1-es típusú hypervisor</a:t>
            </a:r>
            <a:endParaRPr/>
          </a:p>
        </p:txBody>
      </p:sp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Ha a virtualizációs platform olyan </a:t>
            </a:r>
            <a:r>
              <a:rPr b="1" lang="en-US"/>
              <a:t>hardveren fut</a:t>
            </a:r>
            <a:r>
              <a:rPr lang="en-US"/>
              <a:t>, amelyen </a:t>
            </a:r>
            <a:r>
              <a:rPr b="1" lang="en-US"/>
              <a:t>nincs operációs rendszer</a:t>
            </a:r>
            <a:r>
              <a:rPr lang="en-US"/>
              <a:t> akkor egyes típusú hypervisorra kell gondolni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Biztonságosabb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általában szerverfeladatkat ellátó operációs rendszert virtualizálják</a:t>
            </a:r>
            <a:r>
              <a:rPr lang="en-US" u="sng"/>
              <a:t> </a:t>
            </a:r>
            <a:r>
              <a:rPr lang="en-US"/>
              <a:t>1-es típusú hypervisorokkal</a:t>
            </a:r>
            <a:endParaRPr u="sng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képen szöveg, képernyőkép, Betűtípus, szám látható&#10;&#10;Előfordulhat, hogy az AI által létrehozott tartalom helytelen." id="197" name="Google Shape;197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738" y="889719"/>
            <a:ext cx="8359775" cy="507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Népszerű 1-es típusú hypervisorok</a:t>
            </a:r>
            <a:endParaRPr/>
          </a:p>
        </p:txBody>
      </p:sp>
      <p:sp>
        <p:nvSpPr>
          <p:cNvPr id="203" name="Google Shape;203;p17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VMware ESXi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Micorsoft Hyper-v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KVM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Orace VM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2-es típusú hypervisor</a:t>
            </a:r>
            <a:endParaRPr/>
          </a:p>
        </p:txBody>
      </p:sp>
      <p:sp>
        <p:nvSpPr>
          <p:cNvPr id="209" name="Google Shape;209;p18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Ha a virtualizációs platform egy </a:t>
            </a:r>
            <a:r>
              <a:rPr b="1" lang="en-US"/>
              <a:t>már meglevő operációs rendszeren fut,</a:t>
            </a:r>
            <a:r>
              <a:rPr lang="en-US"/>
              <a:t> akkor 2-es típusó hypervisorra kell gondolni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Miért használnánk ilyet?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Nem megbízható alkalmazások futtatása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Olyan alkalmazás futtatása amely nem futtatható a host operációs rendszeren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A képen szöveg, képernyőkép, Betűtípus, Színesség látható&#10;&#10;Előfordulhat, hogy az AI által létrehozott tartalom helytelen." id="215" name="Google Shape;215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89931"/>
            <a:ext cx="77724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>
            <p:ph type="title"/>
          </p:nvPr>
        </p:nvSpPr>
        <p:spPr>
          <a:xfrm>
            <a:off x="1219200" y="2209804"/>
            <a:ext cx="6705600" cy="276433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/>
              <a:t>Konténerek</a:t>
            </a:r>
            <a:endParaRPr/>
          </a:p>
        </p:txBody>
      </p:sp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1219200" y="4951269"/>
            <a:ext cx="5303520" cy="122093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(NEM AZ AMIRE GONDOLSZ)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képen kültéri, konténer, fa, Szállítókonténer látható&#10;&#10;Előfordulhat, hogy az AI által létrehozott tartalom helytelen.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738" y="388133"/>
            <a:ext cx="8359775" cy="6081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Mi az a konténer?</a:t>
            </a:r>
            <a:endParaRPr/>
          </a:p>
        </p:txBody>
      </p:sp>
      <p:sp>
        <p:nvSpPr>
          <p:cNvPr id="232" name="Google Shape;232;p22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A konténer egy elszigetelt önálló </a:t>
            </a:r>
            <a:r>
              <a:rPr b="1" lang="en-US"/>
              <a:t>egység amely hordozza magában az alkalmazás futtatásához szükséges bináris fájlokat és könyvtárakat</a:t>
            </a:r>
            <a:endParaRPr b="1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Konzisztensen fut akármilyen környezetben Host operációs rendszertől függetlenül</a:t>
            </a:r>
            <a:endParaRPr b="1"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Minden rendszeren ugyan úgy fut</a:t>
            </a:r>
            <a:endParaRPr/>
          </a:p>
          <a:p>
            <a:pPr indent="-95211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A konténer tulajdonságai</a:t>
            </a:r>
            <a:endParaRPr/>
          </a:p>
        </p:txBody>
      </p:sp>
      <p:sp>
        <p:nvSpPr>
          <p:cNvPr id="238" name="Google Shape;238;p23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Gyorsaság</a:t>
            </a:r>
            <a:r>
              <a:rPr lang="en-US"/>
              <a:t>: A Konténerek gyorsabban állnak rendelkezésre, mint a hagyományos virtuális gépek, mivel nem kell egy egész operációs rendszert betölteniük.</a:t>
            </a:r>
            <a:endParaRPr b="1" u="sng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Konzisztencia</a:t>
            </a:r>
            <a:r>
              <a:rPr b="1" lang="en-US"/>
              <a:t>:</a:t>
            </a:r>
            <a:r>
              <a:rPr lang="en-US"/>
              <a:t> Akármilyen környezetben futtatjuk a konténerünket az alkalmazásunk mindig ugyan úgy fog működni.</a:t>
            </a:r>
            <a:endParaRPr b="1" u="sng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Biztonság:</a:t>
            </a:r>
            <a:r>
              <a:rPr lang="en-US"/>
              <a:t> A konténerek csak folyamat szintű elkülönítést alkalmaznak. A gazda operációs rendszer kerneljék használják </a:t>
            </a:r>
            <a:endParaRPr b="1" u="sng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képen szöveg, képernyőkép látható&#10;&#10;Előfordulhat, hogy az AI által létrehozott tartalom helytelen." id="243" name="Google Shape;243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738" y="1077814"/>
            <a:ext cx="8359775" cy="4702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1219200" y="2209804"/>
            <a:ext cx="6705600" cy="276433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/>
              <a:t>Konténerek vagy Virtuális Gépek?</a:t>
            </a:r>
            <a:endParaRPr/>
          </a:p>
        </p:txBody>
      </p:sp>
      <p:sp>
        <p:nvSpPr>
          <p:cNvPr id="249" name="Google Shape;249;p25"/>
          <p:cNvSpPr txBox="1"/>
          <p:nvPr>
            <p:ph idx="1" type="body"/>
          </p:nvPr>
        </p:nvSpPr>
        <p:spPr>
          <a:xfrm>
            <a:off x="1219200" y="4951269"/>
            <a:ext cx="5303520" cy="122093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MELYIK A JOBB?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 txBox="1"/>
          <p:nvPr>
            <p:ph type="title"/>
          </p:nvPr>
        </p:nvSpPr>
        <p:spPr>
          <a:xfrm>
            <a:off x="1219200" y="2209804"/>
            <a:ext cx="6705600" cy="276433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51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5" name="Google Shape;255;p26"/>
          <p:cNvSpPr txBox="1"/>
          <p:nvPr>
            <p:ph idx="1" type="body"/>
          </p:nvPr>
        </p:nvSpPr>
        <p:spPr>
          <a:xfrm>
            <a:off x="1219200" y="4951269"/>
            <a:ext cx="5303520" cy="122093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</p:txBody>
      </p:sp>
      <p:pic>
        <p:nvPicPr>
          <p:cNvPr id="256" name="Google Shape;256;p26" title="Containerization Explain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524000"/>
            <a:ext cx="7924800" cy="4476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Konténerek vs Virtuális gépek</a:t>
            </a:r>
            <a:endParaRPr/>
          </a:p>
        </p:txBody>
      </p:sp>
      <p:sp>
        <p:nvSpPr>
          <p:cNvPr id="262" name="Google Shape;262;p27"/>
          <p:cNvSpPr txBox="1"/>
          <p:nvPr>
            <p:ph idx="1" type="body"/>
          </p:nvPr>
        </p:nvSpPr>
        <p:spPr>
          <a:xfrm>
            <a:off x="914400" y="1701800"/>
            <a:ext cx="38130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KONTÉNER</a:t>
            </a:r>
            <a:endParaRPr/>
          </a:p>
        </p:txBody>
      </p:sp>
      <p:sp>
        <p:nvSpPr>
          <p:cNvPr id="263" name="Google Shape;263;p27"/>
          <p:cNvSpPr txBox="1"/>
          <p:nvPr>
            <p:ph idx="2" type="body"/>
          </p:nvPr>
        </p:nvSpPr>
        <p:spPr>
          <a:xfrm>
            <a:off x="914401" y="2717800"/>
            <a:ext cx="3810000" cy="3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Biztonság:</a:t>
            </a:r>
            <a:r>
              <a:rPr lang="en-US"/>
              <a:t> </a:t>
            </a:r>
            <a:r>
              <a:rPr b="1" lang="en-US"/>
              <a:t>Folyamat szintű</a:t>
            </a:r>
            <a:r>
              <a:rPr lang="en-US"/>
              <a:t> elszigeteltség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Sebesség: Gyorsabb</a:t>
            </a:r>
            <a:r>
              <a:rPr lang="en-US"/>
              <a:t> rendelkezésre állás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Erőforrás igény: Alacsonyabb</a:t>
            </a:r>
            <a:r>
              <a:rPr lang="en-US"/>
              <a:t>, nincs szükség egy operációs rendszer futtatására</a:t>
            </a:r>
            <a:endParaRPr/>
          </a:p>
        </p:txBody>
      </p:sp>
      <p:sp>
        <p:nvSpPr>
          <p:cNvPr id="264" name="Google Shape;264;p27"/>
          <p:cNvSpPr txBox="1"/>
          <p:nvPr>
            <p:ph idx="3" type="body"/>
          </p:nvPr>
        </p:nvSpPr>
        <p:spPr>
          <a:xfrm>
            <a:off x="4873752" y="1701800"/>
            <a:ext cx="38130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VIRTUÁLIS GÉP</a:t>
            </a:r>
            <a:endParaRPr/>
          </a:p>
        </p:txBody>
      </p:sp>
      <p:sp>
        <p:nvSpPr>
          <p:cNvPr id="265" name="Google Shape;265;p27"/>
          <p:cNvSpPr txBox="1"/>
          <p:nvPr>
            <p:ph idx="4" type="body"/>
          </p:nvPr>
        </p:nvSpPr>
        <p:spPr>
          <a:xfrm>
            <a:off x="4876801" y="2717800"/>
            <a:ext cx="3810000" cy="3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Biztonság: Kiváló</a:t>
            </a:r>
            <a:endParaRPr b="1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Sebesség: Lassabb</a:t>
            </a:r>
            <a:r>
              <a:rPr lang="en-US"/>
              <a:t> rendelkezésre állás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Erőforrás igény: Magasabb</a:t>
            </a:r>
            <a:r>
              <a:rPr lang="en-US"/>
              <a:t>, virtualizálni kell egy operációs rendszert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Konténerek és VM-ek felépítése</a:t>
            </a:r>
            <a:endParaRPr/>
          </a:p>
        </p:txBody>
      </p:sp>
      <p:pic>
        <p:nvPicPr>
          <p:cNvPr descr="A képen szöveg, képernyőkép, Betűtípus látható&#10;&#10;Előfordulhat, hogy az AI által létrehozott tartalom helytelen." id="271" name="Google Shape;271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89931"/>
            <a:ext cx="77724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/>
          <p:nvPr>
            <p:ph type="title"/>
          </p:nvPr>
        </p:nvSpPr>
        <p:spPr>
          <a:xfrm>
            <a:off x="1219200" y="2209804"/>
            <a:ext cx="6705600" cy="276433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/>
              <a:t>Felhőszolgáltatások</a:t>
            </a:r>
            <a:endParaRPr/>
          </a:p>
        </p:txBody>
      </p:sp>
      <p:sp>
        <p:nvSpPr>
          <p:cNvPr id="277" name="Google Shape;277;p29"/>
          <p:cNvSpPr txBox="1"/>
          <p:nvPr>
            <p:ph idx="1" type="body"/>
          </p:nvPr>
        </p:nvSpPr>
        <p:spPr>
          <a:xfrm>
            <a:off x="1219200" y="4951269"/>
            <a:ext cx="5303520" cy="122093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PAAS, SAAS, IAAS,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SaaS</a:t>
            </a:r>
            <a:endParaRPr/>
          </a:p>
        </p:txBody>
      </p:sp>
      <p:sp>
        <p:nvSpPr>
          <p:cNvPr id="283" name="Google Shape;283;p30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u="sng"/>
              <a:t>SaaS: Software as a service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Felhasználó barát modell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Teljes szoftvereket lehet használni az interneten keresztül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Helyi telepítés helyett, a felhőn keresztül érik el az alkalmazásokat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Példák: Microsoft 365, Zoom, Google Workspace, Slack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Miért jó?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Nem kell a vállalkozásoknak telepíteni, frissíteni a szoftvereket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Nem kell aggódni a szolgáltatást alapját szolgáltató infrastruktúra miatt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képen madár, ragadozó madár, sas, csőr látható&#10;&#10;Előfordulhat, hogy az AI által létrehozott tartalom helytelen." id="288" name="Google Shape;288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738" y="1245009"/>
            <a:ext cx="8359775" cy="4367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PaaS</a:t>
            </a:r>
            <a:endParaRPr/>
          </a:p>
        </p:txBody>
      </p:sp>
      <p:sp>
        <p:nvSpPr>
          <p:cNvPr id="294" name="Google Shape;294;p32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PaaS: Platform as a Service</a:t>
            </a:r>
            <a:endParaRPr b="1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Felhő környezet alkalmazások fejlesztésére, futtatására és menedzselésére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Olyan fejlesztőknek szól akik inkább az alkalmazásuk fejlesztésére szeretének koncentrálni, mint az infrastruktúra fentartásán bajlódni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Példák: AWS Lambda, Google App Engine, Google Cloud, IMB Cloud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képen szöveg látható&#10;&#10;Előfordulhat, hogy az AI által létrehozott tartalom helytelen." id="299" name="Google Shape;299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2888" y="68263"/>
            <a:ext cx="6721475" cy="67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IaaS</a:t>
            </a:r>
            <a:endParaRPr/>
          </a:p>
        </p:txBody>
      </p:sp>
      <p:sp>
        <p:nvSpPr>
          <p:cNvPr id="305" name="Google Shape;305;p34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IaaS: Infrastructure as a Service</a:t>
            </a:r>
            <a:endParaRPr b="1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Informatikai infrastruktúrát lehet bérelni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Szerverek, tárhely, hálózat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Nem kell menedzselni a fizikai hardvert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Példák: Amazon Web Services (AWS), Microsoft Azure, Digital Ocean</a:t>
            </a:r>
            <a:endParaRPr/>
          </a:p>
          <a:p>
            <a:pPr indent="-95211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"/>
          <p:cNvSpPr txBox="1"/>
          <p:nvPr>
            <p:ph type="title"/>
          </p:nvPr>
        </p:nvSpPr>
        <p:spPr>
          <a:xfrm>
            <a:off x="1219200" y="2209804"/>
            <a:ext cx="6705600" cy="2764335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/>
              <a:t>Felhő arhitektúrák</a:t>
            </a:r>
            <a:endParaRPr/>
          </a:p>
        </p:txBody>
      </p:sp>
      <p:sp>
        <p:nvSpPr>
          <p:cNvPr id="311" name="Google Shape;311;p35"/>
          <p:cNvSpPr txBox="1"/>
          <p:nvPr>
            <p:ph idx="1" type="body"/>
          </p:nvPr>
        </p:nvSpPr>
        <p:spPr>
          <a:xfrm>
            <a:off x="1219200" y="4951269"/>
            <a:ext cx="5303520" cy="1220933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PRIVÁT, PUBLIKUS, HIBRID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Privát Felhő</a:t>
            </a:r>
            <a:endParaRPr/>
          </a:p>
        </p:txBody>
      </p:sp>
      <p:sp>
        <p:nvSpPr>
          <p:cNvPr id="317" name="Google Shape;317;p36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Az erőforrások csak egy szervezet felügyeli</a:t>
            </a:r>
            <a:endParaRPr b="1"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Saját adatközpont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3 féltől bérelt infrastruktúra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Csak a szervezet fér hozzá az erőforrásokhoz</a:t>
            </a:r>
            <a:endParaRPr b="1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Saját igény szerint lehet az erőforrásokat igényelni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Általában kormányok közepes- és nagyvállalatok használják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Előnyök:</a:t>
            </a:r>
            <a:endParaRPr b="1"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Rugalmasság: A szerverzet a saját igényei szerint alakíthatja a környezetét</a:t>
            </a:r>
            <a:endParaRPr b="1"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Biztonság: Az erőforrások nincsenek megosztva másokkal</a:t>
            </a:r>
            <a:endParaRPr b="1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Publikus felhő</a:t>
            </a:r>
            <a:endParaRPr/>
          </a:p>
        </p:txBody>
      </p:sp>
      <p:sp>
        <p:nvSpPr>
          <p:cNvPr id="323" name="Google Shape;323;p37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Az infrastruktúrát egy harmadik féltől béreljük</a:t>
            </a:r>
            <a:endParaRPr b="1"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Amazon Web Services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Microsoft Azure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Az interneten keresztül férünk hozzá</a:t>
            </a:r>
            <a:endParaRPr b="1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Csak azért fizetünk amit használunk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Előnyök</a:t>
            </a:r>
            <a:endParaRPr b="1"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Költséghatékony: olcsóbb megoldás, mint saját infrastruktúrát üzemeltetni</a:t>
            </a:r>
            <a:endParaRPr b="1"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Nincs karbantartás: a szolgáltató tartja karban az infrastruktúrát</a:t>
            </a:r>
            <a:endParaRPr b="1"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Hozzáférhetőség: akárhonnan elérhető a világból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 txBox="1"/>
          <p:nvPr>
            <p:ph type="title"/>
          </p:nvPr>
        </p:nvSpPr>
        <p:spPr>
          <a:xfrm>
            <a:off x="914401" y="274637"/>
            <a:ext cx="7772400" cy="12239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875" spcFirstLastPara="1" rIns="121875" wrap="square" tIns="60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r>
              <a:rPr lang="en-US"/>
              <a:t>Hibrid felhő</a:t>
            </a:r>
            <a:endParaRPr/>
          </a:p>
        </p:txBody>
      </p:sp>
      <p:sp>
        <p:nvSpPr>
          <p:cNvPr id="329" name="Google Shape;329;p38"/>
          <p:cNvSpPr txBox="1"/>
          <p:nvPr>
            <p:ph idx="1" type="body"/>
          </p:nvPr>
        </p:nvSpPr>
        <p:spPr>
          <a:xfrm>
            <a:off x="914401" y="1701797"/>
            <a:ext cx="77724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normAutofit lnSpcReduction="10000"/>
          </a:bodyPr>
          <a:lstStyle/>
          <a:p>
            <a:pPr indent="-228625" lvl="0" marL="2286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A nyilvános és privát felhőkörnyezetek kombinációja</a:t>
            </a:r>
            <a:endParaRPr b="1"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b="1" lang="en-US"/>
              <a:t>Nagyobb rugalmasságot</a:t>
            </a:r>
            <a:r>
              <a:rPr lang="en-US"/>
              <a:t>, skálázhatóságot és költséghatékonyságot kínál, mint egyetlen felhőkörnyezet használata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Lehetővé teszi a vállalatok számára, hogy: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Érzékeny adatokat</a:t>
            </a:r>
            <a:r>
              <a:rPr lang="en-US"/>
              <a:t> és alkalmazásokat saját, </a:t>
            </a:r>
            <a:r>
              <a:rPr b="1" lang="en-US"/>
              <a:t>privát infrastruktúrán</a:t>
            </a:r>
            <a:r>
              <a:rPr lang="en-US"/>
              <a:t> futtassanak.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A </a:t>
            </a:r>
            <a:r>
              <a:rPr b="1" lang="en-US"/>
              <a:t>nyilvános felhőt</a:t>
            </a:r>
            <a:r>
              <a:rPr lang="en-US"/>
              <a:t> használják kevésbé érzékeny munkafolyamatokra vagy </a:t>
            </a:r>
            <a:r>
              <a:rPr b="1" lang="en-US"/>
              <a:t>ideiglenes terhelésnövekedés esetén</a:t>
            </a:r>
            <a:r>
              <a:rPr lang="en-US"/>
              <a:t>.</a:t>
            </a:r>
            <a:endParaRPr/>
          </a:p>
          <a:p>
            <a:pPr indent="-228625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Előnyök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Biztonság</a:t>
            </a:r>
            <a:r>
              <a:rPr lang="en-US"/>
              <a:t>: az érzékeny adatokat a privát szervereken tárolhatják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Rugalmasság</a:t>
            </a:r>
            <a:r>
              <a:rPr lang="en-US"/>
              <a:t>: ki lehet használni a publikus felhő adta erőforrásokat szükség esetén</a:t>
            </a:r>
            <a:endParaRPr/>
          </a:p>
          <a:p>
            <a:pPr indent="-173755" lvl="1" marL="4572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</a:pPr>
            <a:r>
              <a:rPr b="1" lang="en-US"/>
              <a:t>Javítja az erőforrás kihasználtságot</a:t>
            </a:r>
            <a:endParaRPr b="1"/>
          </a:p>
          <a:p>
            <a:pPr indent="-95211" lvl="0" marL="2286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101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16x9">
  <a:themeElements>
    <a:clrScheme name="Tech_16x9">
      <a:dk1>
        <a:srgbClr val="000000"/>
      </a:dk1>
      <a:lt1>
        <a:srgbClr val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2025-09-21T16:35:06Z</dcterms:created>
  <dc:creator>Virág István Gábor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