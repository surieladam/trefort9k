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54" y="8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hu-HU"/>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hu-HU"/>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hu-HU"/>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hu-HU"/>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hu-HU"/>
              <a:t>Mintacím szerkesztése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2025-11-02</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2025-11-02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hu-HU"/>
              <a:t>Mintacím szerkesztése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48A87A34-81AB-432B-8DAE-1953F412C126}" type="datetimeFigureOut">
              <a:rPr lang="en-US" dirty="0"/>
              <a:t>2025-11-02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2025-11-02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hu-HU"/>
              <a:t>Mintacím szerkesztése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141410" y="3073397"/>
            <a:ext cx="4878391" cy="2717801"/>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6172200" y="3073397"/>
            <a:ext cx="4875210" cy="2717801"/>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2025-11-02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2025-11-02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2025-11-02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hu-HU"/>
              <a:t>Mintacím szerkesztése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2025-11-02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hu-HU"/>
              <a:t>Mintacím szerkesztése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2025-11-02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hu-HU"/>
              <a:t>Mintacím szerkesztése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hu-HU"/>
              <a:t>Kép beszúrásához kattintson az ikonra</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2025-11-02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hu-HU"/>
              <a:t>Mintacím szerkesztése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2025-11-02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hu-HU"/>
              <a:t>Mintacím szerkesztése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2025-11-02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hu-HU"/>
              <a:t>Mintacím szerkesztése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2025-11-02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hu-HU"/>
              <a:t>Mintacím szerkesztése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48A87A34-81AB-432B-8DAE-1953F412C126}" type="datetimeFigureOut">
              <a:rPr lang="en-US" dirty="0"/>
              <a:t>2025-11-02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hu-HU"/>
              <a:t>Mintacím szerkesztése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hu-HU"/>
              <a:t>Kép beszúrásához kattintson az ikonra</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hu-HU"/>
              <a:t>Kép beszúrásához kattintson az ikonra</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hu-HU"/>
              <a:t>Kép beszúrásához kattintson az ikonra</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48A87A34-81AB-432B-8DAE-1953F412C126}" type="datetimeFigureOut">
              <a:rPr lang="en-US" dirty="0"/>
              <a:t>2025-11-02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ncho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2025-11-02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hu-HU"/>
              <a:t>Mintacím szerkesztése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2025-11-02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hu-HU"/>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hu-HU"/>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hu-HU"/>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hu-HU"/>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hu-HU"/>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2025-11-02</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85BBF27-5404-B126-F682-83462D8E7BC6}"/>
              </a:ext>
            </a:extLst>
          </p:cNvPr>
          <p:cNvSpPr>
            <a:spLocks noGrp="1"/>
          </p:cNvSpPr>
          <p:nvPr>
            <p:ph type="ctrTitle"/>
          </p:nvPr>
        </p:nvSpPr>
        <p:spPr/>
        <p:txBody>
          <a:bodyPr/>
          <a:lstStyle/>
          <a:p>
            <a:r>
              <a:rPr lang="en-US" dirty="0"/>
              <a:t>Modern </a:t>
            </a:r>
            <a:r>
              <a:rPr lang="en-US" dirty="0" err="1"/>
              <a:t>operációs</a:t>
            </a:r>
            <a:r>
              <a:rPr lang="en-US" dirty="0"/>
              <a:t> </a:t>
            </a:r>
            <a:r>
              <a:rPr lang="en-US" dirty="0" err="1"/>
              <a:t>rendszerek</a:t>
            </a:r>
            <a:endParaRPr lang="hu-HU" dirty="0"/>
          </a:p>
        </p:txBody>
      </p:sp>
      <p:sp>
        <p:nvSpPr>
          <p:cNvPr id="3" name="Alcím 2">
            <a:extLst>
              <a:ext uri="{FF2B5EF4-FFF2-40B4-BE49-F238E27FC236}">
                <a16:creationId xmlns:a16="http://schemas.microsoft.com/office/drawing/2014/main" id="{AF246ADB-9DA4-1B25-A101-BFA0A90C9C8D}"/>
              </a:ext>
            </a:extLst>
          </p:cNvPr>
          <p:cNvSpPr>
            <a:spLocks noGrp="1"/>
          </p:cNvSpPr>
          <p:nvPr>
            <p:ph type="subTitle" idx="1"/>
          </p:nvPr>
        </p:nvSpPr>
        <p:spPr/>
        <p:txBody>
          <a:bodyPr/>
          <a:lstStyle/>
          <a:p>
            <a:endParaRPr lang="hu-HU" dirty="0"/>
          </a:p>
        </p:txBody>
      </p:sp>
    </p:spTree>
    <p:extLst>
      <p:ext uri="{BB962C8B-B14F-4D97-AF65-F5344CB8AC3E}">
        <p14:creationId xmlns:p14="http://schemas.microsoft.com/office/powerpoint/2010/main" val="1091927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F17BEAD-8D37-333E-2157-752100EA847D}"/>
              </a:ext>
            </a:extLst>
          </p:cNvPr>
          <p:cNvSpPr>
            <a:spLocks noGrp="1"/>
          </p:cNvSpPr>
          <p:nvPr>
            <p:ph type="title"/>
          </p:nvPr>
        </p:nvSpPr>
        <p:spPr/>
        <p:txBody>
          <a:bodyPr/>
          <a:lstStyle/>
          <a:p>
            <a:r>
              <a:rPr lang="en-US" dirty="0" err="1"/>
              <a:t>Fogalmak</a:t>
            </a:r>
            <a:endParaRPr lang="hu-HU" dirty="0"/>
          </a:p>
        </p:txBody>
      </p:sp>
      <p:sp>
        <p:nvSpPr>
          <p:cNvPr id="3" name="Tartalom helye 2">
            <a:extLst>
              <a:ext uri="{FF2B5EF4-FFF2-40B4-BE49-F238E27FC236}">
                <a16:creationId xmlns:a16="http://schemas.microsoft.com/office/drawing/2014/main" id="{9098DA16-328A-EB6D-CC81-0E2350F40C97}"/>
              </a:ext>
            </a:extLst>
          </p:cNvPr>
          <p:cNvSpPr>
            <a:spLocks noGrp="1"/>
          </p:cNvSpPr>
          <p:nvPr>
            <p:ph idx="1"/>
          </p:nvPr>
        </p:nvSpPr>
        <p:spPr/>
        <p:txBody>
          <a:bodyPr>
            <a:normAutofit fontScale="92500" lnSpcReduction="20000"/>
          </a:bodyPr>
          <a:lstStyle/>
          <a:p>
            <a:r>
              <a:rPr lang="hu-HU" dirty="0"/>
              <a:t>Az operációs rendszer (OS) leírásakor gyakran használják a következő kifejezéseket:</a:t>
            </a:r>
          </a:p>
          <a:p>
            <a:pPr fontAlgn="base"/>
            <a:r>
              <a:rPr lang="hu-HU" b="1" dirty="0"/>
              <a:t>Többfelhasználós (Multi-</a:t>
            </a:r>
            <a:r>
              <a:rPr lang="hu-HU" b="1" dirty="0" err="1"/>
              <a:t>user</a:t>
            </a:r>
            <a:r>
              <a:rPr lang="hu-HU" b="1" dirty="0"/>
              <a:t>)</a:t>
            </a:r>
            <a:r>
              <a:rPr lang="hu-HU" dirty="0"/>
              <a:t> – Két vagy több felhasználó rendelkezik egyéni fiókkal, amely lehetővé teszi számukra, hogy egyszerre dolgozzanak a programokkal és a perifériákkal.</a:t>
            </a:r>
          </a:p>
          <a:p>
            <a:pPr fontAlgn="base"/>
            <a:r>
              <a:rPr lang="hu-HU" b="1" dirty="0"/>
              <a:t>Többfeladatos (</a:t>
            </a:r>
            <a:r>
              <a:rPr lang="hu-HU" b="1" dirty="0" err="1"/>
              <a:t>Multitasking</a:t>
            </a:r>
            <a:r>
              <a:rPr lang="hu-HU" b="1" dirty="0"/>
              <a:t>)</a:t>
            </a:r>
            <a:r>
              <a:rPr lang="hu-HU" dirty="0"/>
              <a:t> – A számítógép képes egyszerre több alkalmazást futtatni.</a:t>
            </a:r>
          </a:p>
          <a:p>
            <a:pPr fontAlgn="base"/>
            <a:r>
              <a:rPr lang="hu-HU" b="1" dirty="0"/>
              <a:t>Többprocesszoros (</a:t>
            </a:r>
            <a:r>
              <a:rPr lang="hu-HU" b="1" dirty="0" err="1"/>
              <a:t>Multiprocessing</a:t>
            </a:r>
            <a:r>
              <a:rPr lang="hu-HU" b="1" dirty="0"/>
              <a:t>)</a:t>
            </a:r>
            <a:r>
              <a:rPr lang="hu-HU" dirty="0"/>
              <a:t> – Az operációs rendszer két vagy több CPU-t tud támogatni.</a:t>
            </a:r>
          </a:p>
        </p:txBody>
      </p:sp>
    </p:spTree>
    <p:extLst>
      <p:ext uri="{BB962C8B-B14F-4D97-AF65-F5344CB8AC3E}">
        <p14:creationId xmlns:p14="http://schemas.microsoft.com/office/powerpoint/2010/main" val="2404106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8299E9C-4EB8-C51D-7B6D-9DFD6A828DA6}"/>
              </a:ext>
            </a:extLst>
          </p:cNvPr>
          <p:cNvSpPr>
            <a:spLocks noGrp="1"/>
          </p:cNvSpPr>
          <p:nvPr>
            <p:ph type="title"/>
          </p:nvPr>
        </p:nvSpPr>
        <p:spPr/>
        <p:txBody>
          <a:bodyPr/>
          <a:lstStyle/>
          <a:p>
            <a:endParaRPr lang="hu-HU" dirty="0"/>
          </a:p>
        </p:txBody>
      </p:sp>
      <p:sp>
        <p:nvSpPr>
          <p:cNvPr id="3" name="Tartalom helye 2">
            <a:extLst>
              <a:ext uri="{FF2B5EF4-FFF2-40B4-BE49-F238E27FC236}">
                <a16:creationId xmlns:a16="http://schemas.microsoft.com/office/drawing/2014/main" id="{CE93441C-5160-0D2E-A863-2A973DEE14CC}"/>
              </a:ext>
            </a:extLst>
          </p:cNvPr>
          <p:cNvSpPr>
            <a:spLocks noGrp="1"/>
          </p:cNvSpPr>
          <p:nvPr>
            <p:ph idx="1"/>
          </p:nvPr>
        </p:nvSpPr>
        <p:spPr/>
        <p:txBody>
          <a:bodyPr/>
          <a:lstStyle/>
          <a:p>
            <a:r>
              <a:rPr lang="hu-HU" b="1" dirty="0"/>
              <a:t>Többszálas feldolgozás (</a:t>
            </a:r>
            <a:r>
              <a:rPr lang="hu-HU" b="1" dirty="0" err="1"/>
              <a:t>Multithreading</a:t>
            </a:r>
            <a:r>
              <a:rPr lang="hu-HU" b="1" dirty="0"/>
              <a:t>)</a:t>
            </a:r>
            <a:r>
              <a:rPr lang="hu-HU" dirty="0"/>
              <a:t> – Egy program kisebb részekre bontható, amelyeket az operációs rendszer szükség szerint tölt be. A többszálas feldolgozás lehetővé teszi, hogy egy program különböző részei egyszerre fussanak</a:t>
            </a:r>
            <a:r>
              <a:rPr lang="en-US" dirty="0"/>
              <a:t>.</a:t>
            </a:r>
            <a:endParaRPr lang="hu-HU" dirty="0"/>
          </a:p>
          <a:p>
            <a:pPr marL="0" indent="0">
              <a:buNone/>
            </a:pPr>
            <a:r>
              <a:rPr lang="hu-HU" dirty="0"/>
              <a:t>Az operációs rendszer indítja el a számítógépet és kezeli a fájlrendszert. Az operációs rendszerek több felhasználót, feladatot vagy CPU-t is támogat</a:t>
            </a:r>
            <a:r>
              <a:rPr lang="en-US" dirty="0"/>
              <a:t>hat</a:t>
            </a:r>
            <a:r>
              <a:rPr lang="hu-HU" dirty="0" err="1"/>
              <a:t>nak</a:t>
            </a:r>
            <a:r>
              <a:rPr lang="hu-HU" dirty="0"/>
              <a:t>.</a:t>
            </a:r>
          </a:p>
        </p:txBody>
      </p:sp>
    </p:spTree>
    <p:extLst>
      <p:ext uri="{BB962C8B-B14F-4D97-AF65-F5344CB8AC3E}">
        <p14:creationId xmlns:p14="http://schemas.microsoft.com/office/powerpoint/2010/main" val="1196464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E613BC7-3E0E-C504-8F63-935CBCE2BA0C}"/>
              </a:ext>
            </a:extLst>
          </p:cNvPr>
          <p:cNvSpPr>
            <a:spLocks noGrp="1"/>
          </p:cNvSpPr>
          <p:nvPr>
            <p:ph type="title"/>
          </p:nvPr>
        </p:nvSpPr>
        <p:spPr/>
        <p:txBody>
          <a:bodyPr/>
          <a:lstStyle/>
          <a:p>
            <a:r>
              <a:rPr lang="hu-HU" dirty="0"/>
              <a:t>Alapvető funkcionalitások</a:t>
            </a:r>
          </a:p>
        </p:txBody>
      </p:sp>
      <p:sp>
        <p:nvSpPr>
          <p:cNvPr id="3" name="Tartalom helye 2">
            <a:extLst>
              <a:ext uri="{FF2B5EF4-FFF2-40B4-BE49-F238E27FC236}">
                <a16:creationId xmlns:a16="http://schemas.microsoft.com/office/drawing/2014/main" id="{6E8CCDBF-CDC6-ABA7-9586-5211B3F6BB4E}"/>
              </a:ext>
            </a:extLst>
          </p:cNvPr>
          <p:cNvSpPr>
            <a:spLocks noGrp="1"/>
          </p:cNvSpPr>
          <p:nvPr>
            <p:ph idx="1"/>
          </p:nvPr>
        </p:nvSpPr>
        <p:spPr/>
        <p:txBody>
          <a:bodyPr/>
          <a:lstStyle/>
          <a:p>
            <a:pPr fontAlgn="base"/>
            <a:r>
              <a:rPr lang="hu-HU" dirty="0"/>
              <a:t>Az operációs rendszer kezeli az alkalmazások és a hardver közötti interakciót.</a:t>
            </a:r>
          </a:p>
          <a:p>
            <a:pPr fontAlgn="base"/>
            <a:r>
              <a:rPr lang="hu-HU" dirty="0"/>
              <a:t>Az operációs rendszer fájlstruktúrát hoz létre a merevlemezen az adatok tárolása érdekében.</a:t>
            </a:r>
          </a:p>
          <a:p>
            <a:endParaRPr lang="hu-HU" dirty="0"/>
          </a:p>
        </p:txBody>
      </p:sp>
    </p:spTree>
    <p:extLst>
      <p:ext uri="{BB962C8B-B14F-4D97-AF65-F5344CB8AC3E}">
        <p14:creationId xmlns:p14="http://schemas.microsoft.com/office/powerpoint/2010/main" val="3087855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A3A8EBA-14CF-2482-A4F8-17727B2AFD9F}"/>
              </a:ext>
            </a:extLst>
          </p:cNvPr>
          <p:cNvSpPr>
            <a:spLocks noGrp="1"/>
          </p:cNvSpPr>
          <p:nvPr>
            <p:ph type="title"/>
          </p:nvPr>
        </p:nvSpPr>
        <p:spPr/>
        <p:txBody>
          <a:bodyPr/>
          <a:lstStyle/>
          <a:p>
            <a:endParaRPr lang="hu-HU"/>
          </a:p>
        </p:txBody>
      </p:sp>
      <p:sp>
        <p:nvSpPr>
          <p:cNvPr id="3" name="Tartalom helye 2">
            <a:extLst>
              <a:ext uri="{FF2B5EF4-FFF2-40B4-BE49-F238E27FC236}">
                <a16:creationId xmlns:a16="http://schemas.microsoft.com/office/drawing/2014/main" id="{42FCCBC0-885E-35D1-B065-C846E905DCDD}"/>
              </a:ext>
            </a:extLst>
          </p:cNvPr>
          <p:cNvSpPr>
            <a:spLocks noGrp="1"/>
          </p:cNvSpPr>
          <p:nvPr>
            <p:ph idx="1"/>
          </p:nvPr>
        </p:nvSpPr>
        <p:spPr/>
        <p:txBody>
          <a:bodyPr/>
          <a:lstStyle/>
          <a:p>
            <a:pPr fontAlgn="base"/>
            <a:r>
              <a:rPr lang="hu-HU" dirty="0"/>
              <a:t>Az operációs rendszer lehetővé teszi a felhasználó számára, hogy interakcióba lépjen a szoftverekkel és a hardverrel.</a:t>
            </a:r>
          </a:p>
          <a:p>
            <a:pPr fontAlgn="base"/>
            <a:r>
              <a:rPr lang="hu-HU" dirty="0"/>
              <a:t>Az operációs rendszer megkeresi az alkalmazást, és betölti azt a számítógép RAM-</a:t>
            </a:r>
            <a:r>
              <a:rPr lang="hu-HU" dirty="0" err="1"/>
              <a:t>jába</a:t>
            </a:r>
            <a:r>
              <a:rPr lang="hu-HU" dirty="0"/>
              <a:t>.</a:t>
            </a:r>
          </a:p>
        </p:txBody>
      </p:sp>
    </p:spTree>
    <p:extLst>
      <p:ext uri="{BB962C8B-B14F-4D97-AF65-F5344CB8AC3E}">
        <p14:creationId xmlns:p14="http://schemas.microsoft.com/office/powerpoint/2010/main" val="3795732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AE20176-B8CA-8508-D8EC-5BA7D4778072}"/>
              </a:ext>
            </a:extLst>
          </p:cNvPr>
          <p:cNvSpPr>
            <a:spLocks noGrp="1"/>
          </p:cNvSpPr>
          <p:nvPr>
            <p:ph type="title"/>
          </p:nvPr>
        </p:nvSpPr>
        <p:spPr/>
        <p:txBody>
          <a:bodyPr/>
          <a:lstStyle/>
          <a:p>
            <a:r>
              <a:rPr lang="hu-HU" dirty="0"/>
              <a:t>Windows operációs rendszerek</a:t>
            </a:r>
          </a:p>
        </p:txBody>
      </p:sp>
      <p:sp>
        <p:nvSpPr>
          <p:cNvPr id="3" name="Tartalom helye 2">
            <a:extLst>
              <a:ext uri="{FF2B5EF4-FFF2-40B4-BE49-F238E27FC236}">
                <a16:creationId xmlns:a16="http://schemas.microsoft.com/office/drawing/2014/main" id="{D79852B9-2226-DADF-EBAC-A9D277D83C0F}"/>
              </a:ext>
            </a:extLst>
          </p:cNvPr>
          <p:cNvSpPr>
            <a:spLocks noGrp="1"/>
          </p:cNvSpPr>
          <p:nvPr>
            <p:ph idx="1"/>
          </p:nvPr>
        </p:nvSpPr>
        <p:spPr>
          <a:xfrm>
            <a:off x="1141412" y="2249486"/>
            <a:ext cx="9905999" cy="4167355"/>
          </a:xfrm>
        </p:spPr>
        <p:txBody>
          <a:bodyPr>
            <a:normAutofit fontScale="92500"/>
          </a:bodyPr>
          <a:lstStyle/>
          <a:p>
            <a:pPr fontAlgn="base"/>
            <a:r>
              <a:rPr lang="hu-HU" b="1" dirty="0"/>
              <a:t>Windows 7</a:t>
            </a:r>
            <a:r>
              <a:rPr lang="hu-HU" dirty="0"/>
              <a:t> – Ez a Windows XP vagy Vista frissítése.</a:t>
            </a:r>
          </a:p>
          <a:p>
            <a:pPr fontAlgn="base"/>
            <a:r>
              <a:rPr lang="hu-HU" b="1" dirty="0"/>
              <a:t>Windows 8</a:t>
            </a:r>
            <a:r>
              <a:rPr lang="hu-HU" dirty="0"/>
              <a:t> – Ez bevezette a Metro felhasználói felületet, amely egységesíti a Windows megjelenését és működését asztali számítógépeken, laptopokon, mobiltelefonokon és táblagépeken.</a:t>
            </a:r>
          </a:p>
          <a:p>
            <a:pPr fontAlgn="base"/>
            <a:r>
              <a:rPr lang="hu-HU" b="1" dirty="0"/>
              <a:t>Windows 8.1</a:t>
            </a:r>
            <a:r>
              <a:rPr lang="hu-HU" dirty="0"/>
              <a:t> – Ez a Windows 8 frissítése, amelynek célja, hogy a Windows-t megismertesse az egér és billentyűzet interfészt használó eszközök felhasználóival.</a:t>
            </a:r>
          </a:p>
          <a:p>
            <a:r>
              <a:rPr lang="hu-HU" b="1" dirty="0"/>
              <a:t>Windows 10</a:t>
            </a:r>
            <a:r>
              <a:rPr lang="hu-HU" dirty="0"/>
              <a:t> – Ez a Windows korábbi verzióinak frissítése. PC-k, táblagépek, beágyazott eszközök és az Internet of </a:t>
            </a:r>
            <a:r>
              <a:rPr lang="hu-HU" dirty="0" err="1"/>
              <a:t>Things</a:t>
            </a:r>
            <a:r>
              <a:rPr lang="hu-HU" dirty="0"/>
              <a:t> eszközök számára lett kifejlesztve.</a:t>
            </a:r>
          </a:p>
        </p:txBody>
      </p:sp>
    </p:spTree>
    <p:extLst>
      <p:ext uri="{BB962C8B-B14F-4D97-AF65-F5344CB8AC3E}">
        <p14:creationId xmlns:p14="http://schemas.microsoft.com/office/powerpoint/2010/main" val="2989028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7A1D743-CAC6-29FB-8E05-447A6F4C9E47}"/>
              </a:ext>
            </a:extLst>
          </p:cNvPr>
          <p:cNvSpPr>
            <a:spLocks noGrp="1"/>
          </p:cNvSpPr>
          <p:nvPr>
            <p:ph type="title"/>
          </p:nvPr>
        </p:nvSpPr>
        <p:spPr/>
        <p:txBody>
          <a:bodyPr/>
          <a:lstStyle/>
          <a:p>
            <a:r>
              <a:rPr lang="hu-HU" dirty="0"/>
              <a:t>Kompatibilis rendszer szoftver és hardver követelmények</a:t>
            </a:r>
          </a:p>
        </p:txBody>
      </p:sp>
      <p:sp>
        <p:nvSpPr>
          <p:cNvPr id="3" name="Tartalom helye 2">
            <a:extLst>
              <a:ext uri="{FF2B5EF4-FFF2-40B4-BE49-F238E27FC236}">
                <a16:creationId xmlns:a16="http://schemas.microsoft.com/office/drawing/2014/main" id="{54DCB0F0-2431-2CFE-3192-C76CFE0DDB39}"/>
              </a:ext>
            </a:extLst>
          </p:cNvPr>
          <p:cNvSpPr>
            <a:spLocks noGrp="1"/>
          </p:cNvSpPr>
          <p:nvPr>
            <p:ph idx="1"/>
          </p:nvPr>
        </p:nvSpPr>
        <p:spPr/>
        <p:txBody>
          <a:bodyPr/>
          <a:lstStyle/>
          <a:p>
            <a:r>
              <a:rPr lang="en-US" dirty="0" err="1"/>
              <a:t>Meghatározás</a:t>
            </a:r>
            <a:endParaRPr lang="en-US" dirty="0"/>
          </a:p>
          <a:p>
            <a:pPr lvl="1"/>
            <a:r>
              <a:rPr lang="en-US" dirty="0" err="1"/>
              <a:t>Költségvetés</a:t>
            </a:r>
            <a:endParaRPr lang="en-US" dirty="0"/>
          </a:p>
          <a:p>
            <a:pPr lvl="1"/>
            <a:r>
              <a:rPr lang="en-US" dirty="0" err="1"/>
              <a:t>Felhasználási</a:t>
            </a:r>
            <a:r>
              <a:rPr lang="en-US" dirty="0"/>
              <a:t> </a:t>
            </a:r>
            <a:r>
              <a:rPr lang="en-US" dirty="0" err="1"/>
              <a:t>mód</a:t>
            </a:r>
            <a:endParaRPr lang="en-US" dirty="0"/>
          </a:p>
          <a:p>
            <a:pPr lvl="1"/>
            <a:r>
              <a:rPr lang="en-US" dirty="0" err="1"/>
              <a:t>Telepítendő</a:t>
            </a:r>
            <a:r>
              <a:rPr lang="en-US" dirty="0"/>
              <a:t> </a:t>
            </a:r>
            <a:r>
              <a:rPr lang="en-US" dirty="0" err="1"/>
              <a:t>alkalmazások</a:t>
            </a:r>
            <a:r>
              <a:rPr lang="en-US" dirty="0"/>
              <a:t> </a:t>
            </a:r>
            <a:r>
              <a:rPr lang="en-US" dirty="0" err="1"/>
              <a:t>listája</a:t>
            </a:r>
            <a:endParaRPr lang="en-US" dirty="0"/>
          </a:p>
        </p:txBody>
      </p:sp>
    </p:spTree>
    <p:extLst>
      <p:ext uri="{BB962C8B-B14F-4D97-AF65-F5344CB8AC3E}">
        <p14:creationId xmlns:p14="http://schemas.microsoft.com/office/powerpoint/2010/main" val="382763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9EBB8E0-384A-BB7B-66A4-0665DCF427E1}"/>
              </a:ext>
            </a:extLst>
          </p:cNvPr>
          <p:cNvSpPr>
            <a:spLocks noGrp="1"/>
          </p:cNvSpPr>
          <p:nvPr>
            <p:ph type="title"/>
          </p:nvPr>
        </p:nvSpPr>
        <p:spPr/>
        <p:txBody>
          <a:bodyPr/>
          <a:lstStyle/>
          <a:p>
            <a:endParaRPr lang="hu-HU"/>
          </a:p>
        </p:txBody>
      </p:sp>
      <p:sp>
        <p:nvSpPr>
          <p:cNvPr id="3" name="Tartalom helye 2">
            <a:extLst>
              <a:ext uri="{FF2B5EF4-FFF2-40B4-BE49-F238E27FC236}">
                <a16:creationId xmlns:a16="http://schemas.microsoft.com/office/drawing/2014/main" id="{51CBB654-B7EC-D422-AD81-A0FDFCF69876}"/>
              </a:ext>
            </a:extLst>
          </p:cNvPr>
          <p:cNvSpPr>
            <a:spLocks noGrp="1"/>
          </p:cNvSpPr>
          <p:nvPr>
            <p:ph idx="1"/>
          </p:nvPr>
        </p:nvSpPr>
        <p:spPr/>
        <p:txBody>
          <a:bodyPr/>
          <a:lstStyle/>
          <a:p>
            <a:pPr fontAlgn="base"/>
            <a:r>
              <a:rPr lang="hu-HU" b="1" dirty="0"/>
              <a:t>A vevő kész alkalmazásokat használ-e a számítógépen? </a:t>
            </a:r>
            <a:r>
              <a:rPr lang="hu-HU" dirty="0"/>
              <a:t>A kész alkalmazások esetében az alkalmazáscsomag tartalmazza a kompatibilis operációs rendszerek listáját.</a:t>
            </a:r>
          </a:p>
          <a:p>
            <a:r>
              <a:rPr lang="hu-HU" b="1" dirty="0"/>
              <a:t>Az ügyfél kifejezetten számára programozott, testreszabott alkalmazásokat használ?</a:t>
            </a:r>
            <a:r>
              <a:rPr lang="hu-HU" dirty="0"/>
              <a:t> Ha az ügyfél testreszabott alkalmazást használ, akkor az alkalmazás programozója határozza meg, hogy melyik operációs rendszert kell használni.</a:t>
            </a:r>
          </a:p>
        </p:txBody>
      </p:sp>
    </p:spTree>
    <p:extLst>
      <p:ext uri="{BB962C8B-B14F-4D97-AF65-F5344CB8AC3E}">
        <p14:creationId xmlns:p14="http://schemas.microsoft.com/office/powerpoint/2010/main" val="1463473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ím 5">
            <a:extLst>
              <a:ext uri="{FF2B5EF4-FFF2-40B4-BE49-F238E27FC236}">
                <a16:creationId xmlns:a16="http://schemas.microsoft.com/office/drawing/2014/main" id="{63B90FE4-50B7-666E-629E-738BDB66A1EA}"/>
              </a:ext>
            </a:extLst>
          </p:cNvPr>
          <p:cNvSpPr>
            <a:spLocks noGrp="1"/>
          </p:cNvSpPr>
          <p:nvPr>
            <p:ph type="title"/>
          </p:nvPr>
        </p:nvSpPr>
        <p:spPr/>
        <p:txBody>
          <a:bodyPr>
            <a:normAutofit/>
          </a:bodyPr>
          <a:lstStyle/>
          <a:p>
            <a:r>
              <a:rPr lang="hu-HU" dirty="0"/>
              <a:t>Minimális hardverkövetelmények és operációs rendszerrel való kompatibilitás</a:t>
            </a:r>
          </a:p>
        </p:txBody>
      </p:sp>
      <p:pic>
        <p:nvPicPr>
          <p:cNvPr id="1028" name="Picture 4">
            <a:extLst>
              <a:ext uri="{FF2B5EF4-FFF2-40B4-BE49-F238E27FC236}">
                <a16:creationId xmlns:a16="http://schemas.microsoft.com/office/drawing/2014/main" id="{C543A34B-3AA3-1D46-5FAC-F1756C424D9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6174" y="2333415"/>
            <a:ext cx="9379651" cy="4227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587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139D1CB-C745-ECCC-4D8A-1CDF4AFD4638}"/>
              </a:ext>
            </a:extLst>
          </p:cNvPr>
          <p:cNvSpPr>
            <a:spLocks noGrp="1"/>
          </p:cNvSpPr>
          <p:nvPr>
            <p:ph type="title"/>
          </p:nvPr>
        </p:nvSpPr>
        <p:spPr/>
        <p:txBody>
          <a:bodyPr/>
          <a:lstStyle/>
          <a:p>
            <a:r>
              <a:rPr lang="sv-SE" dirty="0"/>
              <a:t>32 bit vs 64 bit</a:t>
            </a:r>
            <a:endParaRPr lang="hu-HU" dirty="0"/>
          </a:p>
        </p:txBody>
      </p:sp>
      <p:pic>
        <p:nvPicPr>
          <p:cNvPr id="2050" name="Picture 2">
            <a:extLst>
              <a:ext uri="{FF2B5EF4-FFF2-40B4-BE49-F238E27FC236}">
                <a16:creationId xmlns:a16="http://schemas.microsoft.com/office/drawing/2014/main" id="{7407A0F8-F0C8-6657-238B-83BB5DD00B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1309" y="2578351"/>
            <a:ext cx="10609381" cy="3293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91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451CAFB-176A-0219-39E9-4B618890157F}"/>
              </a:ext>
            </a:extLst>
          </p:cNvPr>
          <p:cNvSpPr>
            <a:spLocks noGrp="1"/>
          </p:cNvSpPr>
          <p:nvPr>
            <p:ph type="title"/>
          </p:nvPr>
        </p:nvSpPr>
        <p:spPr/>
        <p:txBody>
          <a:bodyPr/>
          <a:lstStyle/>
          <a:p>
            <a:r>
              <a:rPr lang="hu-HU" dirty="0"/>
              <a:t>Operációs rendszer kompatibilitásának ellenőrzése</a:t>
            </a:r>
          </a:p>
        </p:txBody>
      </p:sp>
      <p:sp>
        <p:nvSpPr>
          <p:cNvPr id="6" name="Tartalom helye 5">
            <a:extLst>
              <a:ext uri="{FF2B5EF4-FFF2-40B4-BE49-F238E27FC236}">
                <a16:creationId xmlns:a16="http://schemas.microsoft.com/office/drawing/2014/main" id="{71D9D79C-D8BF-42C7-C8CC-18D242FEAE6F}"/>
              </a:ext>
            </a:extLst>
          </p:cNvPr>
          <p:cNvSpPr>
            <a:spLocks noGrp="1"/>
          </p:cNvSpPr>
          <p:nvPr>
            <p:ph idx="1"/>
          </p:nvPr>
        </p:nvSpPr>
        <p:spPr/>
        <p:txBody>
          <a:bodyPr>
            <a:normAutofit fontScale="92500" lnSpcReduction="10000"/>
          </a:bodyPr>
          <a:lstStyle/>
          <a:p>
            <a:pPr fontAlgn="base"/>
            <a:r>
              <a:rPr lang="hu-HU" dirty="0"/>
              <a:t>Az operációs rendszert rendszeresen frissíteni kell, hogy kompatibilis maradjon a legújabb hardverekkel és szoftverekkel. </a:t>
            </a:r>
          </a:p>
          <a:p>
            <a:pPr fontAlgn="base"/>
            <a:r>
              <a:rPr lang="hu-HU" dirty="0"/>
              <a:t>Az </a:t>
            </a:r>
            <a:r>
              <a:rPr lang="en-US" dirty="0"/>
              <a:t>o</a:t>
            </a:r>
            <a:r>
              <a:rPr lang="hu-HU" dirty="0" err="1"/>
              <a:t>perációs</a:t>
            </a:r>
            <a:r>
              <a:rPr lang="hu-HU" dirty="0"/>
              <a:t> rendszer frissítése előtt ellenőrizze az új operációs rendszer minimális hardverkövetelményeit, hogy megbizonyosodjon arról, hogy az sikeresen telepíthető a számítógépre.</a:t>
            </a:r>
          </a:p>
          <a:p>
            <a:pPr fontAlgn="base"/>
            <a:r>
              <a:rPr lang="hu-HU" dirty="0"/>
              <a:t>A Microsoft biztosítja a </a:t>
            </a:r>
            <a:r>
              <a:rPr lang="hu-HU" dirty="0" err="1"/>
              <a:t>Get</a:t>
            </a:r>
            <a:r>
              <a:rPr lang="hu-HU" dirty="0"/>
              <a:t> Windows 10 alkalmazást, amely automatikusan letöltődik és települ a Windows Update szolgáltatáson keresztül a Windows 7 Service </a:t>
            </a:r>
            <a:r>
              <a:rPr lang="hu-HU" dirty="0" err="1"/>
              <a:t>Pack</a:t>
            </a:r>
            <a:r>
              <a:rPr lang="hu-HU" dirty="0"/>
              <a:t> 1 és Windows 8.1 rendszert futtató számítógépekre. </a:t>
            </a:r>
          </a:p>
          <a:p>
            <a:endParaRPr lang="hu-HU" dirty="0"/>
          </a:p>
        </p:txBody>
      </p:sp>
    </p:spTree>
    <p:extLst>
      <p:ext uri="{BB962C8B-B14F-4D97-AF65-F5344CB8AC3E}">
        <p14:creationId xmlns:p14="http://schemas.microsoft.com/office/powerpoint/2010/main" val="3776265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Tartalom helye 8" descr="A képen szöveg, háziállat, kutya, Kutyafajta látható&#10;&#10;Előfordulhat, hogy az AI által létrehozott tartalom helytelen.">
            <a:extLst>
              <a:ext uri="{FF2B5EF4-FFF2-40B4-BE49-F238E27FC236}">
                <a16:creationId xmlns:a16="http://schemas.microsoft.com/office/drawing/2014/main" id="{845AD141-0E39-7B87-6A9B-04BE5E9B446F}"/>
              </a:ext>
            </a:extLst>
          </p:cNvPr>
          <p:cNvPicPr>
            <a:picLocks noGrp="1" noChangeAspect="1"/>
          </p:cNvPicPr>
          <p:nvPr>
            <p:ph idx="1"/>
          </p:nvPr>
        </p:nvPicPr>
        <p:blipFill>
          <a:blip r:embed="rId2"/>
          <a:stretch>
            <a:fillRect/>
          </a:stretch>
        </p:blipFill>
        <p:spPr>
          <a:xfrm>
            <a:off x="3332935" y="670621"/>
            <a:ext cx="5526130" cy="5516758"/>
          </a:xfrm>
        </p:spPr>
      </p:pic>
    </p:spTree>
    <p:extLst>
      <p:ext uri="{BB962C8B-B14F-4D97-AF65-F5344CB8AC3E}">
        <p14:creationId xmlns:p14="http://schemas.microsoft.com/office/powerpoint/2010/main" val="1441880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ED9CDB2-6A36-F9F5-CD3B-67AFB1AC1E79}"/>
              </a:ext>
            </a:extLst>
          </p:cNvPr>
          <p:cNvSpPr>
            <a:spLocks noGrp="1"/>
          </p:cNvSpPr>
          <p:nvPr>
            <p:ph type="title"/>
          </p:nvPr>
        </p:nvSpPr>
        <p:spPr/>
        <p:txBody>
          <a:bodyPr/>
          <a:lstStyle/>
          <a:p>
            <a:r>
              <a:rPr lang="hu-HU" dirty="0"/>
              <a:t>Windows </a:t>
            </a:r>
            <a:r>
              <a:rPr lang="hu-HU" dirty="0" err="1"/>
              <a:t>OPrendszer</a:t>
            </a:r>
            <a:r>
              <a:rPr lang="hu-HU" dirty="0"/>
              <a:t> fejlesztése</a:t>
            </a:r>
          </a:p>
        </p:txBody>
      </p:sp>
      <p:sp>
        <p:nvSpPr>
          <p:cNvPr id="3" name="Tartalom helye 2">
            <a:extLst>
              <a:ext uri="{FF2B5EF4-FFF2-40B4-BE49-F238E27FC236}">
                <a16:creationId xmlns:a16="http://schemas.microsoft.com/office/drawing/2014/main" id="{1BB396F5-CBD7-A229-D6AC-E3BA2734900F}"/>
              </a:ext>
            </a:extLst>
          </p:cNvPr>
          <p:cNvSpPr>
            <a:spLocks noGrp="1"/>
          </p:cNvSpPr>
          <p:nvPr>
            <p:ph idx="1"/>
          </p:nvPr>
        </p:nvSpPr>
        <p:spPr>
          <a:xfrm>
            <a:off x="1141412" y="2249486"/>
            <a:ext cx="9905999" cy="4215481"/>
          </a:xfrm>
        </p:spPr>
        <p:txBody>
          <a:bodyPr>
            <a:normAutofit fontScale="92500" lnSpcReduction="20000"/>
          </a:bodyPr>
          <a:lstStyle/>
          <a:p>
            <a:pPr fontAlgn="base"/>
            <a:r>
              <a:rPr lang="hu-HU" dirty="0"/>
              <a:t>Az operációs rendszer verziója határozza meg a rendelkezésre álló frissítési lehetőségeket. Például egy 32 bites operációs rendszer nem frissíthető 64 bites operációs rendszerre. A Windows 7 és a Windows 8 frissíthető Windows 10-re, de a Windows Vista és a Windows XP nem.</a:t>
            </a:r>
          </a:p>
          <a:p>
            <a:pPr fontAlgn="base"/>
            <a:r>
              <a:rPr lang="hu-HU" dirty="0"/>
              <a:t>A Windows 7 vagy Windows 8 Windows 10-re történő frissítéséhez használja a Windows 10 Update </a:t>
            </a:r>
            <a:r>
              <a:rPr lang="hu-HU" dirty="0" err="1"/>
              <a:t>Assistant</a:t>
            </a:r>
            <a:r>
              <a:rPr lang="hu-HU" dirty="0"/>
              <a:t> eszközt, amely a Windows 10 letöltési webhelyén érhető el. Ez </a:t>
            </a:r>
            <a:r>
              <a:rPr lang="hu-HU" dirty="0" err="1"/>
              <a:t>végigvezeti</a:t>
            </a:r>
            <a:r>
              <a:rPr lang="hu-HU" dirty="0"/>
              <a:t> Önt a Windows 10 telepítési folyamatának minden lépésén.</a:t>
            </a:r>
          </a:p>
          <a:p>
            <a:pPr fontAlgn="base"/>
            <a:r>
              <a:rPr lang="hu-HU" dirty="0"/>
              <a:t>A Windows XP vagy Windows Vista rendszert futtató számítógépek nem frissíthetők Windows 10-re, hanem tiszta telepítést igényelnek. A Windows 10 telepítő adathordozója a </a:t>
            </a:r>
            <a:r>
              <a:rPr lang="hu-HU" dirty="0" err="1"/>
              <a:t>Create</a:t>
            </a:r>
            <a:r>
              <a:rPr lang="hu-HU" dirty="0"/>
              <a:t> Windows 10 </a:t>
            </a:r>
            <a:r>
              <a:rPr lang="hu-HU" dirty="0" err="1"/>
              <a:t>installation</a:t>
            </a:r>
            <a:r>
              <a:rPr lang="hu-HU" dirty="0"/>
              <a:t> </a:t>
            </a:r>
            <a:r>
              <a:rPr lang="hu-HU" dirty="0" err="1"/>
              <a:t>media</a:t>
            </a:r>
            <a:r>
              <a:rPr lang="hu-HU" dirty="0"/>
              <a:t> eszközzel hozható létre.</a:t>
            </a:r>
          </a:p>
        </p:txBody>
      </p:sp>
    </p:spTree>
    <p:extLst>
      <p:ext uri="{BB962C8B-B14F-4D97-AF65-F5344CB8AC3E}">
        <p14:creationId xmlns:p14="http://schemas.microsoft.com/office/powerpoint/2010/main" val="1724093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59B20B9-5B14-F376-405B-E03E83A06281}"/>
              </a:ext>
            </a:extLst>
          </p:cNvPr>
          <p:cNvSpPr>
            <a:spLocks noGrp="1"/>
          </p:cNvSpPr>
          <p:nvPr>
            <p:ph type="title"/>
          </p:nvPr>
        </p:nvSpPr>
        <p:spPr/>
        <p:txBody>
          <a:bodyPr/>
          <a:lstStyle/>
          <a:p>
            <a:r>
              <a:rPr lang="hu-HU" dirty="0"/>
              <a:t>Adatmigráció</a:t>
            </a:r>
          </a:p>
        </p:txBody>
      </p:sp>
      <p:sp>
        <p:nvSpPr>
          <p:cNvPr id="3" name="Tartalom helye 2">
            <a:extLst>
              <a:ext uri="{FF2B5EF4-FFF2-40B4-BE49-F238E27FC236}">
                <a16:creationId xmlns:a16="http://schemas.microsoft.com/office/drawing/2014/main" id="{71DCDB11-F347-0FE7-529C-0068688E4177}"/>
              </a:ext>
            </a:extLst>
          </p:cNvPr>
          <p:cNvSpPr>
            <a:spLocks noGrp="1"/>
          </p:cNvSpPr>
          <p:nvPr>
            <p:ph idx="1"/>
          </p:nvPr>
        </p:nvSpPr>
        <p:spPr/>
        <p:txBody>
          <a:bodyPr>
            <a:normAutofit fontScale="92500"/>
          </a:bodyPr>
          <a:lstStyle/>
          <a:p>
            <a:pPr fontAlgn="base"/>
            <a:r>
              <a:rPr lang="hu-HU" dirty="0"/>
              <a:t>Ha új operációs rendszer telepítésére van szükség, a felhasználói adatokat át kell </a:t>
            </a:r>
            <a:r>
              <a:rPr lang="hu-HU" dirty="0" err="1"/>
              <a:t>migrálni</a:t>
            </a:r>
            <a:r>
              <a:rPr lang="hu-HU" dirty="0"/>
              <a:t> a régi operációs rendszerről az újra.</a:t>
            </a:r>
          </a:p>
          <a:p>
            <a:pPr fontAlgn="base"/>
            <a:r>
              <a:rPr lang="hu-HU" dirty="0"/>
              <a:t>A </a:t>
            </a:r>
            <a:r>
              <a:rPr lang="hu-HU" dirty="0" err="1"/>
              <a:t>User</a:t>
            </a:r>
            <a:r>
              <a:rPr lang="hu-HU" dirty="0"/>
              <a:t> </a:t>
            </a:r>
            <a:r>
              <a:rPr lang="hu-HU" dirty="0" err="1"/>
              <a:t>State</a:t>
            </a:r>
            <a:r>
              <a:rPr lang="hu-HU" dirty="0"/>
              <a:t> </a:t>
            </a:r>
            <a:r>
              <a:rPr lang="hu-HU" dirty="0" err="1"/>
              <a:t>Migration</a:t>
            </a:r>
            <a:r>
              <a:rPr lang="hu-HU" dirty="0"/>
              <a:t> </a:t>
            </a:r>
            <a:r>
              <a:rPr lang="hu-HU" dirty="0" err="1"/>
              <a:t>Tool</a:t>
            </a:r>
            <a:r>
              <a:rPr lang="hu-HU" dirty="0"/>
              <a:t> (USMT) egy parancssori segédprogram, amely egyszerűsíti a felhasználói állapot migrációját.</a:t>
            </a:r>
          </a:p>
          <a:p>
            <a:pPr fontAlgn="base"/>
            <a:r>
              <a:rPr lang="hu-HU" dirty="0"/>
              <a:t>Régi számítógépről újra váltáskor használja a Windows </a:t>
            </a:r>
            <a:r>
              <a:rPr lang="hu-HU" dirty="0" err="1"/>
              <a:t>Easy</a:t>
            </a:r>
            <a:r>
              <a:rPr lang="hu-HU" dirty="0"/>
              <a:t> </a:t>
            </a:r>
            <a:r>
              <a:rPr lang="hu-HU" dirty="0" err="1"/>
              <a:t>Transfer</a:t>
            </a:r>
            <a:r>
              <a:rPr lang="hu-HU" dirty="0"/>
              <a:t> programot.</a:t>
            </a:r>
          </a:p>
          <a:p>
            <a:pPr fontAlgn="base"/>
            <a:r>
              <a:rPr lang="hu-HU" dirty="0"/>
              <a:t>A </a:t>
            </a:r>
            <a:r>
              <a:rPr lang="hu-HU" dirty="0" err="1"/>
              <a:t>PCmover</a:t>
            </a:r>
            <a:r>
              <a:rPr lang="hu-HU" dirty="0"/>
              <a:t> Express egy eszköz, amely kiválasztott fájlok, mappák, profilok és alkalmazások átvitelére szolgál régi Windows PC-ről Windows 10 PC-re.</a:t>
            </a:r>
          </a:p>
        </p:txBody>
      </p:sp>
    </p:spTree>
    <p:extLst>
      <p:ext uri="{BB962C8B-B14F-4D97-AF65-F5344CB8AC3E}">
        <p14:creationId xmlns:p14="http://schemas.microsoft.com/office/powerpoint/2010/main" val="866438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ím 4">
            <a:extLst>
              <a:ext uri="{FF2B5EF4-FFF2-40B4-BE49-F238E27FC236}">
                <a16:creationId xmlns:a16="http://schemas.microsoft.com/office/drawing/2014/main" id="{A7E35F82-F1E7-02FF-B9AB-E356111D734C}"/>
              </a:ext>
            </a:extLst>
          </p:cNvPr>
          <p:cNvSpPr>
            <a:spLocks noGrp="1"/>
          </p:cNvSpPr>
          <p:nvPr>
            <p:ph type="ctrTitle"/>
          </p:nvPr>
        </p:nvSpPr>
        <p:spPr/>
        <p:txBody>
          <a:bodyPr/>
          <a:lstStyle/>
          <a:p>
            <a:r>
              <a:rPr lang="hu-HU" dirty="0"/>
              <a:t>Windows Telepítés</a:t>
            </a:r>
          </a:p>
        </p:txBody>
      </p:sp>
      <p:sp>
        <p:nvSpPr>
          <p:cNvPr id="6" name="Alcím 5">
            <a:extLst>
              <a:ext uri="{FF2B5EF4-FFF2-40B4-BE49-F238E27FC236}">
                <a16:creationId xmlns:a16="http://schemas.microsoft.com/office/drawing/2014/main" id="{D70A68F0-D301-9CF1-3A24-9083D839F413}"/>
              </a:ext>
            </a:extLst>
          </p:cNvPr>
          <p:cNvSpPr>
            <a:spLocks noGrp="1"/>
          </p:cNvSpPr>
          <p:nvPr>
            <p:ph type="subTitle" idx="1"/>
          </p:nvPr>
        </p:nvSpPr>
        <p:spPr/>
        <p:txBody>
          <a:bodyPr/>
          <a:lstStyle/>
          <a:p>
            <a:endParaRPr lang="hu-HU"/>
          </a:p>
        </p:txBody>
      </p:sp>
    </p:spTree>
    <p:extLst>
      <p:ext uri="{BB962C8B-B14F-4D97-AF65-F5344CB8AC3E}">
        <p14:creationId xmlns:p14="http://schemas.microsoft.com/office/powerpoint/2010/main" val="3581467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2B32ECC-0340-CB7D-C78C-6B1E4493FDDB}"/>
              </a:ext>
            </a:extLst>
          </p:cNvPr>
          <p:cNvSpPr>
            <a:spLocks noGrp="1"/>
          </p:cNvSpPr>
          <p:nvPr>
            <p:ph type="title"/>
          </p:nvPr>
        </p:nvSpPr>
        <p:spPr/>
        <p:txBody>
          <a:bodyPr/>
          <a:lstStyle/>
          <a:p>
            <a:r>
              <a:rPr lang="hu-HU" dirty="0"/>
              <a:t>Tárolóeszköz típusok</a:t>
            </a:r>
          </a:p>
        </p:txBody>
      </p:sp>
      <p:sp>
        <p:nvSpPr>
          <p:cNvPr id="3" name="Tartalom helye 2">
            <a:extLst>
              <a:ext uri="{FF2B5EF4-FFF2-40B4-BE49-F238E27FC236}">
                <a16:creationId xmlns:a16="http://schemas.microsoft.com/office/drawing/2014/main" id="{3B883700-8625-074F-7D73-91CDF4E3E5E4}"/>
              </a:ext>
            </a:extLst>
          </p:cNvPr>
          <p:cNvSpPr>
            <a:spLocks noGrp="1"/>
          </p:cNvSpPr>
          <p:nvPr>
            <p:ph idx="1"/>
          </p:nvPr>
        </p:nvSpPr>
        <p:spPr/>
        <p:txBody>
          <a:bodyPr>
            <a:normAutofit fontScale="92500" lnSpcReduction="20000"/>
          </a:bodyPr>
          <a:lstStyle/>
          <a:p>
            <a:r>
              <a:rPr lang="en-US" dirty="0" err="1"/>
              <a:t>Merevlemez</a:t>
            </a:r>
            <a:r>
              <a:rPr lang="en-US" dirty="0"/>
              <a:t> – </a:t>
            </a:r>
            <a:r>
              <a:rPr lang="en-US" dirty="0" err="1"/>
              <a:t>lemez</a:t>
            </a:r>
            <a:r>
              <a:rPr lang="en-US" dirty="0"/>
              <a:t> </a:t>
            </a:r>
            <a:r>
              <a:rPr lang="en-US" dirty="0" err="1"/>
              <a:t>alapú</a:t>
            </a:r>
            <a:endParaRPr lang="en-US" dirty="0"/>
          </a:p>
          <a:p>
            <a:r>
              <a:rPr lang="en-US" dirty="0"/>
              <a:t>Flash </a:t>
            </a:r>
            <a:r>
              <a:rPr lang="en-US" dirty="0" err="1"/>
              <a:t>memórián</a:t>
            </a:r>
            <a:r>
              <a:rPr lang="en-US" dirty="0"/>
              <a:t> </a:t>
            </a:r>
            <a:r>
              <a:rPr lang="en-US" dirty="0" err="1"/>
              <a:t>alapuló</a:t>
            </a:r>
            <a:endParaRPr lang="en-US" dirty="0"/>
          </a:p>
          <a:p>
            <a:pPr lvl="1"/>
            <a:r>
              <a:rPr lang="en-US" dirty="0"/>
              <a:t>SSD </a:t>
            </a:r>
          </a:p>
          <a:p>
            <a:pPr lvl="1"/>
            <a:r>
              <a:rPr lang="en-US" dirty="0"/>
              <a:t>USB</a:t>
            </a:r>
          </a:p>
          <a:p>
            <a:r>
              <a:rPr lang="hu-HU" dirty="0"/>
              <a:t>Miután kiválasztotta az adattároló eszközt, azt fel kell készíteni az új operációs rendszer fogadására. A modern operációs rendszerek telepítőprogrammal együtt kerülnek forgalomba. A telepítők általában előkészítik a lemezt az operációs rendszer fogadására, de a technikusnak elengedhetetlenül fontos, hogy megértse az előkészítéssel kapcsolatos feltételeket és módszereket.</a:t>
            </a:r>
          </a:p>
        </p:txBody>
      </p:sp>
    </p:spTree>
    <p:extLst>
      <p:ext uri="{BB962C8B-B14F-4D97-AF65-F5344CB8AC3E}">
        <p14:creationId xmlns:p14="http://schemas.microsoft.com/office/powerpoint/2010/main" val="410588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5D3939E-2BA8-BD69-EE27-7E4D2579EC13}"/>
              </a:ext>
            </a:extLst>
          </p:cNvPr>
          <p:cNvSpPr>
            <a:spLocks noGrp="1"/>
          </p:cNvSpPr>
          <p:nvPr>
            <p:ph type="title"/>
          </p:nvPr>
        </p:nvSpPr>
        <p:spPr/>
        <p:txBody>
          <a:bodyPr/>
          <a:lstStyle/>
          <a:p>
            <a:r>
              <a:rPr lang="hu-HU" dirty="0" err="1"/>
              <a:t>Partícionálás</a:t>
            </a:r>
            <a:endParaRPr lang="hu-HU" dirty="0"/>
          </a:p>
        </p:txBody>
      </p:sp>
      <p:sp>
        <p:nvSpPr>
          <p:cNvPr id="3" name="Tartalom helye 2">
            <a:extLst>
              <a:ext uri="{FF2B5EF4-FFF2-40B4-BE49-F238E27FC236}">
                <a16:creationId xmlns:a16="http://schemas.microsoft.com/office/drawing/2014/main" id="{E7DA2B21-C0C0-3230-1B65-E9788AED15CF}"/>
              </a:ext>
            </a:extLst>
          </p:cNvPr>
          <p:cNvSpPr>
            <a:spLocks noGrp="1"/>
          </p:cNvSpPr>
          <p:nvPr>
            <p:ph idx="1"/>
          </p:nvPr>
        </p:nvSpPr>
        <p:spPr/>
        <p:txBody>
          <a:bodyPr/>
          <a:lstStyle/>
          <a:p>
            <a:pPr marL="0" indent="0">
              <a:buNone/>
            </a:pPr>
            <a:r>
              <a:rPr lang="hu-HU" dirty="0"/>
              <a:t>Az operációs rendszer megtalálása és elindítása a számítógép </a:t>
            </a:r>
            <a:r>
              <a:rPr lang="hu-HU" dirty="0" err="1"/>
              <a:t>firmware-jének</a:t>
            </a:r>
            <a:r>
              <a:rPr lang="hu-HU" dirty="0"/>
              <a:t> egyik feladata, amelynek ismernie kell a partíciós sémát. </a:t>
            </a:r>
            <a:endParaRPr lang="en-US" dirty="0"/>
          </a:p>
          <a:p>
            <a:pPr marL="0" indent="0">
              <a:buNone/>
            </a:pPr>
            <a:r>
              <a:rPr lang="hu-HU" dirty="0"/>
              <a:t>Két partíciós séma szabvány létezik: a </a:t>
            </a:r>
            <a:r>
              <a:rPr lang="hu-HU" dirty="0" err="1"/>
              <a:t>master</a:t>
            </a:r>
            <a:r>
              <a:rPr lang="hu-HU" dirty="0"/>
              <a:t> boot </a:t>
            </a:r>
            <a:r>
              <a:rPr lang="hu-HU" dirty="0" err="1"/>
              <a:t>record</a:t>
            </a:r>
            <a:r>
              <a:rPr lang="hu-HU" dirty="0"/>
              <a:t> (MBR) és a globálisan egyedi azonosító (GUID) partíciós táblázat (GPT).</a:t>
            </a:r>
          </a:p>
        </p:txBody>
      </p:sp>
    </p:spTree>
    <p:extLst>
      <p:ext uri="{BB962C8B-B14F-4D97-AF65-F5344CB8AC3E}">
        <p14:creationId xmlns:p14="http://schemas.microsoft.com/office/powerpoint/2010/main" val="3919462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3D6755C-4DCD-CDFE-DC7E-4501C326A432}"/>
              </a:ext>
            </a:extLst>
          </p:cNvPr>
          <p:cNvSpPr>
            <a:spLocks noGrp="1"/>
          </p:cNvSpPr>
          <p:nvPr>
            <p:ph type="title"/>
          </p:nvPr>
        </p:nvSpPr>
        <p:spPr/>
        <p:txBody>
          <a:bodyPr/>
          <a:lstStyle/>
          <a:p>
            <a:r>
              <a:rPr lang="en-US" dirty="0"/>
              <a:t>MBR </a:t>
            </a:r>
            <a:endParaRPr lang="hu-HU" dirty="0"/>
          </a:p>
        </p:txBody>
      </p:sp>
      <p:sp>
        <p:nvSpPr>
          <p:cNvPr id="3" name="Tartalom helye 2">
            <a:extLst>
              <a:ext uri="{FF2B5EF4-FFF2-40B4-BE49-F238E27FC236}">
                <a16:creationId xmlns:a16="http://schemas.microsoft.com/office/drawing/2014/main" id="{4394B75A-DD2A-38AE-584D-DD527F43C832}"/>
              </a:ext>
            </a:extLst>
          </p:cNvPr>
          <p:cNvSpPr>
            <a:spLocks noGrp="1"/>
          </p:cNvSpPr>
          <p:nvPr>
            <p:ph idx="1"/>
          </p:nvPr>
        </p:nvSpPr>
        <p:spPr/>
        <p:txBody>
          <a:bodyPr/>
          <a:lstStyle/>
          <a:p>
            <a:r>
              <a:rPr lang="hu-HU" b="1" dirty="0"/>
              <a:t>Master Boot </a:t>
            </a:r>
            <a:r>
              <a:rPr lang="hu-HU" b="1" dirty="0" err="1"/>
              <a:t>Record</a:t>
            </a:r>
            <a:r>
              <a:rPr lang="hu-HU" dirty="0"/>
              <a:t> – Az MBR tartalmazza a merevlemez partícióinak szervezésére vonatkozó információkat. Az MBR hossza 512 bájt, és tartalmazza a boot </a:t>
            </a:r>
            <a:r>
              <a:rPr lang="hu-HU" dirty="0" err="1"/>
              <a:t>loader</a:t>
            </a:r>
            <a:r>
              <a:rPr lang="hu-HU" dirty="0"/>
              <a:t> programot, egy futtatható programot, amely lehetővé teszi a felhasználó számára, hogy több operációs rendszer közül válasszon. Az MBR-t általában BIOS-alapú </a:t>
            </a:r>
            <a:r>
              <a:rPr lang="hu-HU" dirty="0" err="1"/>
              <a:t>firmware-rel</a:t>
            </a:r>
            <a:r>
              <a:rPr lang="hu-HU" dirty="0"/>
              <a:t> rendelkező számítógépekben használják.</a:t>
            </a:r>
          </a:p>
        </p:txBody>
      </p:sp>
    </p:spTree>
    <p:extLst>
      <p:ext uri="{BB962C8B-B14F-4D97-AF65-F5344CB8AC3E}">
        <p14:creationId xmlns:p14="http://schemas.microsoft.com/office/powerpoint/2010/main" val="674306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F9BC832-63C9-8479-9F0C-042BE7D12B2E}"/>
              </a:ext>
            </a:extLst>
          </p:cNvPr>
          <p:cNvSpPr>
            <a:spLocks noGrp="1"/>
          </p:cNvSpPr>
          <p:nvPr>
            <p:ph type="title"/>
          </p:nvPr>
        </p:nvSpPr>
        <p:spPr/>
        <p:txBody>
          <a:bodyPr/>
          <a:lstStyle/>
          <a:p>
            <a:r>
              <a:rPr lang="en-US" dirty="0"/>
              <a:t>GPT</a:t>
            </a:r>
            <a:endParaRPr lang="hu-HU" dirty="0"/>
          </a:p>
        </p:txBody>
      </p:sp>
      <p:sp>
        <p:nvSpPr>
          <p:cNvPr id="3" name="Tartalom helye 2">
            <a:extLst>
              <a:ext uri="{FF2B5EF4-FFF2-40B4-BE49-F238E27FC236}">
                <a16:creationId xmlns:a16="http://schemas.microsoft.com/office/drawing/2014/main" id="{565A0F81-6AB1-6A54-35F4-F0FDB00C4E4A}"/>
              </a:ext>
            </a:extLst>
          </p:cNvPr>
          <p:cNvSpPr>
            <a:spLocks noGrp="1"/>
          </p:cNvSpPr>
          <p:nvPr>
            <p:ph idx="1"/>
          </p:nvPr>
        </p:nvSpPr>
        <p:spPr/>
        <p:txBody>
          <a:bodyPr/>
          <a:lstStyle/>
          <a:p>
            <a:r>
              <a:rPr lang="hu-HU" b="1" dirty="0"/>
              <a:t>GUID </a:t>
            </a:r>
            <a:r>
              <a:rPr lang="hu-HU" b="1" dirty="0" err="1"/>
              <a:t>Partition</a:t>
            </a:r>
            <a:r>
              <a:rPr lang="hu-HU" b="1" dirty="0"/>
              <a:t> </a:t>
            </a:r>
            <a:r>
              <a:rPr lang="hu-HU" b="1" dirty="0" err="1"/>
              <a:t>Table</a:t>
            </a:r>
            <a:r>
              <a:rPr lang="hu-HU" dirty="0"/>
              <a:t> – A GPT, amelyet szintén merevlemezek partíciós táblaséma-szabványaként terveztek, számos modern technikát alkalmaz a régebbi MBR partíciós sémának a továbbfejlesztésére. A GPT-t általában UEFI </a:t>
            </a:r>
            <a:r>
              <a:rPr lang="hu-HU" dirty="0" err="1"/>
              <a:t>firmware-rel</a:t>
            </a:r>
            <a:r>
              <a:rPr lang="hu-HU" dirty="0"/>
              <a:t> rendelkező számítógépekben használják.</a:t>
            </a:r>
          </a:p>
        </p:txBody>
      </p:sp>
    </p:spTree>
    <p:extLst>
      <p:ext uri="{BB962C8B-B14F-4D97-AF65-F5344CB8AC3E}">
        <p14:creationId xmlns:p14="http://schemas.microsoft.com/office/powerpoint/2010/main" val="1482825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5F15A08-6EDA-7EF9-CAE1-BD57F7254692}"/>
              </a:ext>
            </a:extLst>
          </p:cNvPr>
          <p:cNvSpPr>
            <a:spLocks noGrp="1"/>
          </p:cNvSpPr>
          <p:nvPr>
            <p:ph type="title"/>
          </p:nvPr>
        </p:nvSpPr>
        <p:spPr/>
        <p:txBody>
          <a:bodyPr/>
          <a:lstStyle/>
          <a:p>
            <a:endParaRPr lang="hu-HU"/>
          </a:p>
        </p:txBody>
      </p:sp>
      <p:pic>
        <p:nvPicPr>
          <p:cNvPr id="3074" name="Picture 2">
            <a:extLst>
              <a:ext uri="{FF2B5EF4-FFF2-40B4-BE49-F238E27FC236}">
                <a16:creationId xmlns:a16="http://schemas.microsoft.com/office/drawing/2014/main" id="{380636D4-2516-E6C2-97FE-391FBC08F1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546" y="2890360"/>
            <a:ext cx="11966908" cy="2586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27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265AC90-7809-6860-B2D5-9C67422FE7C6}"/>
              </a:ext>
            </a:extLst>
          </p:cNvPr>
          <p:cNvSpPr>
            <a:spLocks noGrp="1"/>
          </p:cNvSpPr>
          <p:nvPr>
            <p:ph type="title"/>
          </p:nvPr>
        </p:nvSpPr>
        <p:spPr/>
        <p:txBody>
          <a:bodyPr/>
          <a:lstStyle/>
          <a:p>
            <a:r>
              <a:rPr lang="hu-HU" dirty="0"/>
              <a:t>Partíciók és logikai meghajtók</a:t>
            </a:r>
          </a:p>
        </p:txBody>
      </p:sp>
      <p:sp>
        <p:nvSpPr>
          <p:cNvPr id="3" name="Tartalom helye 2">
            <a:extLst>
              <a:ext uri="{FF2B5EF4-FFF2-40B4-BE49-F238E27FC236}">
                <a16:creationId xmlns:a16="http://schemas.microsoft.com/office/drawing/2014/main" id="{140C8075-AB34-7F30-7E36-051E6A713C90}"/>
              </a:ext>
            </a:extLst>
          </p:cNvPr>
          <p:cNvSpPr>
            <a:spLocks noGrp="1"/>
          </p:cNvSpPr>
          <p:nvPr>
            <p:ph idx="1"/>
          </p:nvPr>
        </p:nvSpPr>
        <p:spPr/>
        <p:txBody>
          <a:bodyPr/>
          <a:lstStyle/>
          <a:p>
            <a:pPr fontAlgn="base"/>
            <a:r>
              <a:rPr lang="hu-HU" dirty="0"/>
              <a:t>Az elsődleges partíció tartalmazza az operációs rendszer fájljait, és általában az első partíció.</a:t>
            </a:r>
          </a:p>
          <a:p>
            <a:pPr fontAlgn="base"/>
            <a:r>
              <a:rPr lang="hu-HU" dirty="0"/>
              <a:t>Az MBR lemezeken az aktív partíciót az operációs rendszer tárolására és indítására használják.</a:t>
            </a:r>
          </a:p>
          <a:p>
            <a:pPr fontAlgn="base"/>
            <a:r>
              <a:rPr lang="hu-HU" dirty="0"/>
              <a:t>Ha egy MBR lemezen 4-nél több partícióra van szükség, akkor az egyik partíció kiterjesztett partícióként jelölhető meg.</a:t>
            </a:r>
          </a:p>
        </p:txBody>
      </p:sp>
    </p:spTree>
    <p:extLst>
      <p:ext uri="{BB962C8B-B14F-4D97-AF65-F5344CB8AC3E}">
        <p14:creationId xmlns:p14="http://schemas.microsoft.com/office/powerpoint/2010/main" val="2552246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FF00653A-0A33-F763-1DD4-2328436DC88E}"/>
              </a:ext>
            </a:extLst>
          </p:cNvPr>
          <p:cNvSpPr>
            <a:spLocks noGrp="1"/>
          </p:cNvSpPr>
          <p:nvPr>
            <p:ph idx="1"/>
          </p:nvPr>
        </p:nvSpPr>
        <p:spPr>
          <a:xfrm>
            <a:off x="1141412" y="994611"/>
            <a:ext cx="9905999" cy="4796590"/>
          </a:xfrm>
        </p:spPr>
        <p:txBody>
          <a:bodyPr>
            <a:normAutofit/>
          </a:bodyPr>
          <a:lstStyle/>
          <a:p>
            <a:pPr fontAlgn="base"/>
            <a:r>
              <a:rPr lang="hu-HU" dirty="0"/>
              <a:t>A logikai meghajtó egy kiterjesztett partíció része, amelyet adminisztrációs célokra használnak az információk elkülönítésére.</a:t>
            </a:r>
          </a:p>
          <a:p>
            <a:pPr fontAlgn="base"/>
            <a:r>
              <a:rPr lang="hu-HU" dirty="0"/>
              <a:t>Az alaplemez (alapértelmezett) tartalmaz partíciókat, például elsődleges és kiterjesztett partíciókat, valamint logikai meghajtókat, amelyeket adat tárolására formáztak.</a:t>
            </a:r>
          </a:p>
          <a:p>
            <a:pPr fontAlgn="base"/>
            <a:r>
              <a:rPr lang="hu-HU" dirty="0"/>
              <a:t>A dinamikus lemez több lemezen átívelő köteteket hozhat létre.</a:t>
            </a:r>
          </a:p>
          <a:p>
            <a:pPr fontAlgn="base"/>
            <a:r>
              <a:rPr lang="hu-HU" dirty="0"/>
              <a:t>A formázás egy fájlrendszert hoz létre a partíción a fájlok tárolására.</a:t>
            </a:r>
          </a:p>
        </p:txBody>
      </p:sp>
    </p:spTree>
    <p:extLst>
      <p:ext uri="{BB962C8B-B14F-4D97-AF65-F5344CB8AC3E}">
        <p14:creationId xmlns:p14="http://schemas.microsoft.com/office/powerpoint/2010/main" val="1977022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1FE7290-7DDF-35D4-3607-936F0E637877}"/>
              </a:ext>
            </a:extLst>
          </p:cNvPr>
          <p:cNvSpPr>
            <a:spLocks noGrp="1"/>
          </p:cNvSpPr>
          <p:nvPr>
            <p:ph type="title"/>
          </p:nvPr>
        </p:nvSpPr>
        <p:spPr/>
        <p:txBody>
          <a:bodyPr/>
          <a:lstStyle/>
          <a:p>
            <a:r>
              <a:rPr lang="hu-HU" dirty="0"/>
              <a:t>Fájlrendszerek</a:t>
            </a:r>
          </a:p>
        </p:txBody>
      </p:sp>
      <p:sp>
        <p:nvSpPr>
          <p:cNvPr id="3" name="Tartalom helye 2">
            <a:extLst>
              <a:ext uri="{FF2B5EF4-FFF2-40B4-BE49-F238E27FC236}">
                <a16:creationId xmlns:a16="http://schemas.microsoft.com/office/drawing/2014/main" id="{D4B7DA27-1FF3-D6A2-482C-4A995BC69330}"/>
              </a:ext>
            </a:extLst>
          </p:cNvPr>
          <p:cNvSpPr>
            <a:spLocks noGrp="1"/>
          </p:cNvSpPr>
          <p:nvPr>
            <p:ph idx="1"/>
          </p:nvPr>
        </p:nvSpPr>
        <p:spPr/>
        <p:txBody>
          <a:bodyPr>
            <a:normAutofit fontScale="92500" lnSpcReduction="20000"/>
          </a:bodyPr>
          <a:lstStyle/>
          <a:p>
            <a:pPr fontAlgn="base"/>
            <a:r>
              <a:rPr lang="hu-HU" b="1" dirty="0"/>
              <a:t>File </a:t>
            </a:r>
            <a:r>
              <a:rPr lang="hu-HU" b="1" dirty="0" err="1"/>
              <a:t>Allocation</a:t>
            </a:r>
            <a:r>
              <a:rPr lang="hu-HU" b="1" dirty="0"/>
              <a:t> </a:t>
            </a:r>
            <a:r>
              <a:rPr lang="hu-HU" b="1" dirty="0" err="1"/>
              <a:t>Table</a:t>
            </a:r>
            <a:r>
              <a:rPr lang="hu-HU" b="1" dirty="0"/>
              <a:t>, 32 bites (FAT32) </a:t>
            </a:r>
            <a:r>
              <a:rPr lang="hu-HU" dirty="0"/>
              <a:t>– Legfeljebb 2 TB vagy 2048 GB méretű partíciókat támogat. </a:t>
            </a:r>
          </a:p>
          <a:p>
            <a:pPr fontAlgn="base"/>
            <a:r>
              <a:rPr lang="hu-HU" b="1" dirty="0"/>
              <a:t>New </a:t>
            </a:r>
            <a:r>
              <a:rPr lang="hu-HU" b="1" dirty="0" err="1"/>
              <a:t>Technology</a:t>
            </a:r>
            <a:r>
              <a:rPr lang="hu-HU" b="1" dirty="0"/>
              <a:t> File System</a:t>
            </a:r>
            <a:r>
              <a:rPr lang="hu-HU" dirty="0"/>
              <a:t> (NTFS) – Elméletileg legfeljebb 16 </a:t>
            </a:r>
            <a:r>
              <a:rPr lang="hu-HU" dirty="0" err="1"/>
              <a:t>exabájt</a:t>
            </a:r>
            <a:r>
              <a:rPr lang="hu-HU" dirty="0"/>
              <a:t> méretű partíciókat támogat. Az NTFS fájlrendszer biztonsági funkciókat és kiterjesztett attribútumokat tartalmaz. </a:t>
            </a:r>
          </a:p>
          <a:p>
            <a:pPr fontAlgn="base"/>
            <a:r>
              <a:rPr lang="hu-HU" b="1" dirty="0" err="1"/>
              <a:t>exFAT</a:t>
            </a:r>
            <a:r>
              <a:rPr lang="hu-HU" b="1" dirty="0"/>
              <a:t> (FAT 64)</a:t>
            </a:r>
            <a:r>
              <a:rPr lang="hu-HU" dirty="0"/>
              <a:t> –Az </a:t>
            </a:r>
            <a:r>
              <a:rPr lang="hu-HU" dirty="0" err="1"/>
              <a:t>exFAT</a:t>
            </a:r>
            <a:r>
              <a:rPr lang="hu-HU" dirty="0"/>
              <a:t> egyik fő előnye, hogy 4 GB-nál nagyobb fájlokat is támogat.</a:t>
            </a:r>
          </a:p>
          <a:p>
            <a:pPr fontAlgn="base"/>
            <a:r>
              <a:rPr lang="hu-HU" b="1" dirty="0"/>
              <a:t>NFS (Network File System)</a:t>
            </a:r>
            <a:r>
              <a:rPr lang="hu-HU" dirty="0"/>
              <a:t> – Az NFS egy hálózati fájlrendszer, amely lehetővé teszi a fájlokhoz való hozzáférést a hálózaton keresztül. </a:t>
            </a:r>
          </a:p>
          <a:p>
            <a:endParaRPr lang="hu-HU" dirty="0"/>
          </a:p>
        </p:txBody>
      </p:sp>
    </p:spTree>
    <p:extLst>
      <p:ext uri="{BB962C8B-B14F-4D97-AF65-F5344CB8AC3E}">
        <p14:creationId xmlns:p14="http://schemas.microsoft.com/office/powerpoint/2010/main" val="2579458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a:extLst>
              <a:ext uri="{FF2B5EF4-FFF2-40B4-BE49-F238E27FC236}">
                <a16:creationId xmlns:a16="http://schemas.microsoft.com/office/drawing/2014/main" id="{FE912EA3-C0E6-5998-51FA-B9549816F671}"/>
              </a:ext>
            </a:extLst>
          </p:cNvPr>
          <p:cNvSpPr>
            <a:spLocks noGrp="1"/>
          </p:cNvSpPr>
          <p:nvPr>
            <p:ph type="ctrTitle"/>
          </p:nvPr>
        </p:nvSpPr>
        <p:spPr/>
        <p:txBody>
          <a:bodyPr/>
          <a:lstStyle/>
          <a:p>
            <a:r>
              <a:rPr lang="hu-HU" dirty="0"/>
              <a:t>Telepítés és Boot sorrend</a:t>
            </a:r>
          </a:p>
        </p:txBody>
      </p:sp>
      <p:sp>
        <p:nvSpPr>
          <p:cNvPr id="5" name="Alcím 4">
            <a:extLst>
              <a:ext uri="{FF2B5EF4-FFF2-40B4-BE49-F238E27FC236}">
                <a16:creationId xmlns:a16="http://schemas.microsoft.com/office/drawing/2014/main" id="{3C2D7C72-CD85-F1EB-FCEB-66098F4ED20B}"/>
              </a:ext>
            </a:extLst>
          </p:cNvPr>
          <p:cNvSpPr>
            <a:spLocks noGrp="1"/>
          </p:cNvSpPr>
          <p:nvPr>
            <p:ph type="subTitle" idx="1"/>
          </p:nvPr>
        </p:nvSpPr>
        <p:spPr/>
        <p:txBody>
          <a:bodyPr/>
          <a:lstStyle/>
          <a:p>
            <a:endParaRPr lang="hu-HU"/>
          </a:p>
        </p:txBody>
      </p:sp>
    </p:spTree>
    <p:extLst>
      <p:ext uri="{BB962C8B-B14F-4D97-AF65-F5344CB8AC3E}">
        <p14:creationId xmlns:p14="http://schemas.microsoft.com/office/powerpoint/2010/main" val="2152998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E0D0C35-0818-6051-BDD0-ADF76121F303}"/>
              </a:ext>
            </a:extLst>
          </p:cNvPr>
          <p:cNvSpPr>
            <a:spLocks noGrp="1"/>
          </p:cNvSpPr>
          <p:nvPr>
            <p:ph type="title"/>
          </p:nvPr>
        </p:nvSpPr>
        <p:spPr/>
        <p:txBody>
          <a:bodyPr/>
          <a:lstStyle/>
          <a:p>
            <a:r>
              <a:rPr lang="hu-HU" dirty="0"/>
              <a:t>Fiók létrehozás</a:t>
            </a:r>
          </a:p>
        </p:txBody>
      </p:sp>
      <p:sp>
        <p:nvSpPr>
          <p:cNvPr id="3" name="Tartalom helye 2">
            <a:extLst>
              <a:ext uri="{FF2B5EF4-FFF2-40B4-BE49-F238E27FC236}">
                <a16:creationId xmlns:a16="http://schemas.microsoft.com/office/drawing/2014/main" id="{70B37703-4947-B696-7EC2-5357DBE8E371}"/>
              </a:ext>
            </a:extLst>
          </p:cNvPr>
          <p:cNvSpPr>
            <a:spLocks noGrp="1"/>
          </p:cNvSpPr>
          <p:nvPr>
            <p:ph idx="1"/>
          </p:nvPr>
        </p:nvSpPr>
        <p:spPr/>
        <p:txBody>
          <a:bodyPr>
            <a:normAutofit fontScale="92500"/>
          </a:bodyPr>
          <a:lstStyle/>
          <a:p>
            <a:r>
              <a:rPr lang="hu-HU" dirty="0"/>
              <a:t>A hitelesítés során a felhasználók beírják a felhasználónevet és a jelszót, hogy hozzáférjenek a felhasználói fiókhoz. A Windows az egyszeri bejelentkezés (</a:t>
            </a:r>
            <a:r>
              <a:rPr lang="hu-HU" b="1" dirty="0"/>
              <a:t>SSO</a:t>
            </a:r>
            <a:r>
              <a:rPr lang="hu-HU" dirty="0"/>
              <a:t>) hitelesítést használja, amely lehetővé teszi a felhasználók számára, hogy egyetlen bejelentkezéssel hozzáférjenek az összes rendszererőforráshoz. A Windows 10 két fióktípust kínál: rendszergazda és standard felhasználó.</a:t>
            </a:r>
          </a:p>
          <a:p>
            <a:r>
              <a:rPr lang="hu-HU" dirty="0"/>
              <a:t>A rendszergazdai fiókok teljes irányítást kapnak a számítógép felett. Az ilyen típusú fiókkal rendelkező felhasználók globálisan módosíthatják a beállításokat és programokat telepíthetnek. </a:t>
            </a:r>
          </a:p>
        </p:txBody>
      </p:sp>
    </p:spTree>
    <p:extLst>
      <p:ext uri="{BB962C8B-B14F-4D97-AF65-F5344CB8AC3E}">
        <p14:creationId xmlns:p14="http://schemas.microsoft.com/office/powerpoint/2010/main" val="122510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35328C2-DDF0-4ADD-6418-3CDAC8D4B29B}"/>
              </a:ext>
            </a:extLst>
          </p:cNvPr>
          <p:cNvSpPr>
            <a:spLocks noGrp="1"/>
          </p:cNvSpPr>
          <p:nvPr>
            <p:ph type="title"/>
          </p:nvPr>
        </p:nvSpPr>
        <p:spPr/>
        <p:txBody>
          <a:bodyPr/>
          <a:lstStyle/>
          <a:p>
            <a:r>
              <a:rPr lang="hu-HU" dirty="0"/>
              <a:t>Telepítés véglegesítése</a:t>
            </a:r>
          </a:p>
        </p:txBody>
      </p:sp>
      <p:sp>
        <p:nvSpPr>
          <p:cNvPr id="3" name="Tartalom helye 2">
            <a:extLst>
              <a:ext uri="{FF2B5EF4-FFF2-40B4-BE49-F238E27FC236}">
                <a16:creationId xmlns:a16="http://schemas.microsoft.com/office/drawing/2014/main" id="{1F870FE3-7564-8C5F-B882-612CA48D814E}"/>
              </a:ext>
            </a:extLst>
          </p:cNvPr>
          <p:cNvSpPr>
            <a:spLocks noGrp="1"/>
          </p:cNvSpPr>
          <p:nvPr>
            <p:ph idx="1"/>
          </p:nvPr>
        </p:nvSpPr>
        <p:spPr/>
        <p:txBody>
          <a:bodyPr>
            <a:normAutofit lnSpcReduction="10000"/>
          </a:bodyPr>
          <a:lstStyle/>
          <a:p>
            <a:r>
              <a:rPr lang="hu-HU" b="1" dirty="0"/>
              <a:t>Windows Update</a:t>
            </a:r>
            <a:endParaRPr lang="hu-HU" dirty="0"/>
          </a:p>
          <a:p>
            <a:pPr lvl="1"/>
            <a:r>
              <a:rPr lang="hu-HU" dirty="0"/>
              <a:t>Az operációs rendszer első telepítése utáni frissítéséhez a Microsoft Windows Update segítségével lehet új szoftvereket keresni, valamint szervizcsomagokat és javításokat telepíteni.</a:t>
            </a:r>
          </a:p>
          <a:p>
            <a:r>
              <a:rPr lang="hu-HU" b="1" dirty="0"/>
              <a:t>Eszközkezelő</a:t>
            </a:r>
            <a:endParaRPr lang="hu-HU" dirty="0"/>
          </a:p>
          <a:p>
            <a:pPr lvl="1"/>
            <a:r>
              <a:rPr lang="hu-HU" dirty="0"/>
              <a:t>A telepítés után ellenőrizze, hogy minden hardver megfelelően van-e telepítve. Az Eszközkezelő segítségével lehet megtalálni az eszközökkel kapcsolatos problémákat, valamint telepíteni a megfelelő vagy frissített illesztőprogramokat a Windows rendszerben</a:t>
            </a:r>
          </a:p>
        </p:txBody>
      </p:sp>
    </p:spTree>
    <p:extLst>
      <p:ext uri="{BB962C8B-B14F-4D97-AF65-F5344CB8AC3E}">
        <p14:creationId xmlns:p14="http://schemas.microsoft.com/office/powerpoint/2010/main" val="4281506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0C065C3-0FE3-4452-B765-CB05BBB2A98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2" name="Group 11">
            <a:extLst>
              <a:ext uri="{FF2B5EF4-FFF2-40B4-BE49-F238E27FC236}">
                <a16:creationId xmlns:a16="http://schemas.microsoft.com/office/drawing/2014/main" id="{9795E515-5F57-431F-9A0D-3A0419DF75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3" name="Rectangle 5">
              <a:extLst>
                <a:ext uri="{FF2B5EF4-FFF2-40B4-BE49-F238E27FC236}">
                  <a16:creationId xmlns:a16="http://schemas.microsoft.com/office/drawing/2014/main" id="{D45BCBFE-0478-4767-BF2E-FC2C548BA6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hu-HU"/>
            </a:p>
          </p:txBody>
        </p:sp>
        <p:sp>
          <p:nvSpPr>
            <p:cNvPr id="14" name="Freeform 6">
              <a:extLst>
                <a:ext uri="{FF2B5EF4-FFF2-40B4-BE49-F238E27FC236}">
                  <a16:creationId xmlns:a16="http://schemas.microsoft.com/office/drawing/2014/main" id="{E903928F-F6DA-470C-81A0-CF7D9DE034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15" name="Freeform 7">
              <a:extLst>
                <a:ext uri="{FF2B5EF4-FFF2-40B4-BE49-F238E27FC236}">
                  <a16:creationId xmlns:a16="http://schemas.microsoft.com/office/drawing/2014/main" id="{ADA095F6-E326-4450-A2D6-DB2BF989B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16" name="Rectangle 8">
              <a:extLst>
                <a:ext uri="{FF2B5EF4-FFF2-40B4-BE49-F238E27FC236}">
                  <a16:creationId xmlns:a16="http://schemas.microsoft.com/office/drawing/2014/main" id="{6B067F9A-FDF2-49EC-B4FF-CD4B90F789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hu-HU"/>
            </a:p>
          </p:txBody>
        </p:sp>
        <p:sp>
          <p:nvSpPr>
            <p:cNvPr id="17" name="Freeform 9">
              <a:extLst>
                <a:ext uri="{FF2B5EF4-FFF2-40B4-BE49-F238E27FC236}">
                  <a16:creationId xmlns:a16="http://schemas.microsoft.com/office/drawing/2014/main" id="{F1331213-D19D-49FC-8616-168A14565A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18" name="Freeform 10">
              <a:extLst>
                <a:ext uri="{FF2B5EF4-FFF2-40B4-BE49-F238E27FC236}">
                  <a16:creationId xmlns:a16="http://schemas.microsoft.com/office/drawing/2014/main" id="{2ADFE242-96FC-4A14-8C59-90CD6DE1D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19" name="Freeform 11">
              <a:extLst>
                <a:ext uri="{FF2B5EF4-FFF2-40B4-BE49-F238E27FC236}">
                  <a16:creationId xmlns:a16="http://schemas.microsoft.com/office/drawing/2014/main" id="{6A97B7BC-40BD-494B-9C6B-AF3045559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0" name="Freeform 12">
              <a:extLst>
                <a:ext uri="{FF2B5EF4-FFF2-40B4-BE49-F238E27FC236}">
                  <a16:creationId xmlns:a16="http://schemas.microsoft.com/office/drawing/2014/main" id="{3D7F35CF-F44C-491F-904D-A31ED83213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1" name="Freeform 13">
              <a:extLst>
                <a:ext uri="{FF2B5EF4-FFF2-40B4-BE49-F238E27FC236}">
                  <a16:creationId xmlns:a16="http://schemas.microsoft.com/office/drawing/2014/main" id="{84D9BF7E-18C2-452C-B139-4ED58D7A03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2" name="Freeform 14">
              <a:extLst>
                <a:ext uri="{FF2B5EF4-FFF2-40B4-BE49-F238E27FC236}">
                  <a16:creationId xmlns:a16="http://schemas.microsoft.com/office/drawing/2014/main" id="{700A6223-AD38-426F-A6FE-7926CAEF3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3" name="Freeform 15">
              <a:extLst>
                <a:ext uri="{FF2B5EF4-FFF2-40B4-BE49-F238E27FC236}">
                  <a16:creationId xmlns:a16="http://schemas.microsoft.com/office/drawing/2014/main" id="{D172AA94-449F-45EB-94E6-67C186C32D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4" name="Freeform 16">
              <a:extLst>
                <a:ext uri="{FF2B5EF4-FFF2-40B4-BE49-F238E27FC236}">
                  <a16:creationId xmlns:a16="http://schemas.microsoft.com/office/drawing/2014/main" id="{A7D4F697-8937-4F4C-83C5-770B3FCB82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5" name="Freeform 17">
              <a:extLst>
                <a:ext uri="{FF2B5EF4-FFF2-40B4-BE49-F238E27FC236}">
                  <a16:creationId xmlns:a16="http://schemas.microsoft.com/office/drawing/2014/main" id="{10AF1D59-5117-4D47-8414-4BB61F944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6" name="Freeform 18">
              <a:extLst>
                <a:ext uri="{FF2B5EF4-FFF2-40B4-BE49-F238E27FC236}">
                  <a16:creationId xmlns:a16="http://schemas.microsoft.com/office/drawing/2014/main" id="{2387DC33-88B3-4718-8C94-41659EA33A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7" name="Freeform 19">
              <a:extLst>
                <a:ext uri="{FF2B5EF4-FFF2-40B4-BE49-F238E27FC236}">
                  <a16:creationId xmlns:a16="http://schemas.microsoft.com/office/drawing/2014/main" id="{D4E7EC64-4763-4F04-B2E4-E400364D7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8" name="Freeform 20">
              <a:extLst>
                <a:ext uri="{FF2B5EF4-FFF2-40B4-BE49-F238E27FC236}">
                  <a16:creationId xmlns:a16="http://schemas.microsoft.com/office/drawing/2014/main" id="{581717DF-9FD4-47CB-9579-E34DF7E875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29" name="Freeform 21">
              <a:extLst>
                <a:ext uri="{FF2B5EF4-FFF2-40B4-BE49-F238E27FC236}">
                  <a16:creationId xmlns:a16="http://schemas.microsoft.com/office/drawing/2014/main" id="{BCD8EF50-6E58-4B2D-90B6-AFF236A73B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0" name="Freeform 22">
              <a:extLst>
                <a:ext uri="{FF2B5EF4-FFF2-40B4-BE49-F238E27FC236}">
                  <a16:creationId xmlns:a16="http://schemas.microsoft.com/office/drawing/2014/main" id="{6524A268-142A-4CBF-BB8B-DC1FCBC8F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1" name="Freeform 23">
              <a:extLst>
                <a:ext uri="{FF2B5EF4-FFF2-40B4-BE49-F238E27FC236}">
                  <a16:creationId xmlns:a16="http://schemas.microsoft.com/office/drawing/2014/main" id="{56A0E6F3-B76B-4813-B44B-56CE11A8A0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2" name="Freeform 24">
              <a:extLst>
                <a:ext uri="{FF2B5EF4-FFF2-40B4-BE49-F238E27FC236}">
                  <a16:creationId xmlns:a16="http://schemas.microsoft.com/office/drawing/2014/main" id="{A74CED8D-B902-4B76-9CC8-30A09B2FA1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3" name="Freeform 25">
              <a:extLst>
                <a:ext uri="{FF2B5EF4-FFF2-40B4-BE49-F238E27FC236}">
                  <a16:creationId xmlns:a16="http://schemas.microsoft.com/office/drawing/2014/main" id="{ED007BD7-ED56-4566-B1FF-707160024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4" name="Freeform 26">
              <a:extLst>
                <a:ext uri="{FF2B5EF4-FFF2-40B4-BE49-F238E27FC236}">
                  <a16:creationId xmlns:a16="http://schemas.microsoft.com/office/drawing/2014/main" id="{90AD48D2-5BC8-4C80-B126-B1A201242B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5" name="Freeform 27">
              <a:extLst>
                <a:ext uri="{FF2B5EF4-FFF2-40B4-BE49-F238E27FC236}">
                  <a16:creationId xmlns:a16="http://schemas.microsoft.com/office/drawing/2014/main" id="{BE14C82F-9F35-4D61-B758-7BCE32DEC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6" name="Freeform 28">
              <a:extLst>
                <a:ext uri="{FF2B5EF4-FFF2-40B4-BE49-F238E27FC236}">
                  <a16:creationId xmlns:a16="http://schemas.microsoft.com/office/drawing/2014/main" id="{6540CE06-9028-497A-AC64-CF0ED60A74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7" name="Freeform 29">
              <a:extLst>
                <a:ext uri="{FF2B5EF4-FFF2-40B4-BE49-F238E27FC236}">
                  <a16:creationId xmlns:a16="http://schemas.microsoft.com/office/drawing/2014/main" id="{A4825B3B-52CD-4F08-BA02-6C2B0EFEDE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8" name="Freeform 30">
              <a:extLst>
                <a:ext uri="{FF2B5EF4-FFF2-40B4-BE49-F238E27FC236}">
                  <a16:creationId xmlns:a16="http://schemas.microsoft.com/office/drawing/2014/main" id="{6877A5EF-B8B8-44D3-AA57-4BBF89206D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39" name="Freeform 31">
              <a:extLst>
                <a:ext uri="{FF2B5EF4-FFF2-40B4-BE49-F238E27FC236}">
                  <a16:creationId xmlns:a16="http://schemas.microsoft.com/office/drawing/2014/main" id="{00BB365C-9180-4208-92CF-AB6A88848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40" name="Freeform 32">
              <a:extLst>
                <a:ext uri="{FF2B5EF4-FFF2-40B4-BE49-F238E27FC236}">
                  <a16:creationId xmlns:a16="http://schemas.microsoft.com/office/drawing/2014/main" id="{8D1134D2-53A6-41D5-AC1A-5254A2FBD0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41" name="Rectangle 33">
              <a:extLst>
                <a:ext uri="{FF2B5EF4-FFF2-40B4-BE49-F238E27FC236}">
                  <a16:creationId xmlns:a16="http://schemas.microsoft.com/office/drawing/2014/main" id="{24C7FA73-07CD-479A-9B9E-DAD4D3B2BF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hu-HU"/>
            </a:p>
          </p:txBody>
        </p:sp>
        <p:sp>
          <p:nvSpPr>
            <p:cNvPr id="42" name="Freeform 34">
              <a:extLst>
                <a:ext uri="{FF2B5EF4-FFF2-40B4-BE49-F238E27FC236}">
                  <a16:creationId xmlns:a16="http://schemas.microsoft.com/office/drawing/2014/main" id="{AB24DF92-B081-4701-B58D-913261A00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43" name="Freeform 35">
              <a:extLst>
                <a:ext uri="{FF2B5EF4-FFF2-40B4-BE49-F238E27FC236}">
                  <a16:creationId xmlns:a16="http://schemas.microsoft.com/office/drawing/2014/main" id="{AB4DF275-6B82-4AA9-A7A9-138E631E3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44" name="Freeform 36">
              <a:extLst>
                <a:ext uri="{FF2B5EF4-FFF2-40B4-BE49-F238E27FC236}">
                  <a16:creationId xmlns:a16="http://schemas.microsoft.com/office/drawing/2014/main" id="{972A3812-16AD-453E-B1E6-9F39894F7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45" name="Freeform 37">
              <a:extLst>
                <a:ext uri="{FF2B5EF4-FFF2-40B4-BE49-F238E27FC236}">
                  <a16:creationId xmlns:a16="http://schemas.microsoft.com/office/drawing/2014/main" id="{8FB6759A-BAD8-4073-86A2-6DDD73DE2A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46" name="Freeform 38">
              <a:extLst>
                <a:ext uri="{FF2B5EF4-FFF2-40B4-BE49-F238E27FC236}">
                  <a16:creationId xmlns:a16="http://schemas.microsoft.com/office/drawing/2014/main" id="{9FCCB0F4-1178-47C1-9EE2-234EA715C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47" name="Freeform 39">
              <a:extLst>
                <a:ext uri="{FF2B5EF4-FFF2-40B4-BE49-F238E27FC236}">
                  <a16:creationId xmlns:a16="http://schemas.microsoft.com/office/drawing/2014/main" id="{CB01BF0B-7EB0-4C18-80BE-20D2EAC04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48" name="Freeform 40">
              <a:extLst>
                <a:ext uri="{FF2B5EF4-FFF2-40B4-BE49-F238E27FC236}">
                  <a16:creationId xmlns:a16="http://schemas.microsoft.com/office/drawing/2014/main" id="{3266E9DA-C937-48E0-8F98-90A467760F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49" name="Freeform 41">
              <a:extLst>
                <a:ext uri="{FF2B5EF4-FFF2-40B4-BE49-F238E27FC236}">
                  <a16:creationId xmlns:a16="http://schemas.microsoft.com/office/drawing/2014/main" id="{A8A9C00D-0425-4E68-A1DE-BCE5BD6BB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50" name="Freeform 42">
              <a:extLst>
                <a:ext uri="{FF2B5EF4-FFF2-40B4-BE49-F238E27FC236}">
                  <a16:creationId xmlns:a16="http://schemas.microsoft.com/office/drawing/2014/main" id="{46230904-E744-4B55-84FF-826A6B737B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51" name="Freeform 43">
              <a:extLst>
                <a:ext uri="{FF2B5EF4-FFF2-40B4-BE49-F238E27FC236}">
                  <a16:creationId xmlns:a16="http://schemas.microsoft.com/office/drawing/2014/main" id="{D4291668-8AF0-4784-BC06-870768F53F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52" name="Freeform 44">
              <a:extLst>
                <a:ext uri="{FF2B5EF4-FFF2-40B4-BE49-F238E27FC236}">
                  <a16:creationId xmlns:a16="http://schemas.microsoft.com/office/drawing/2014/main" id="{D917DCBD-774B-4AAF-92AE-D18289FFC4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53" name="Rectangle 45">
              <a:extLst>
                <a:ext uri="{FF2B5EF4-FFF2-40B4-BE49-F238E27FC236}">
                  <a16:creationId xmlns:a16="http://schemas.microsoft.com/office/drawing/2014/main" id="{9E50122E-0F19-4D65-9CB2-E22C3EA84AC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hu-HU"/>
            </a:p>
          </p:txBody>
        </p:sp>
        <p:sp>
          <p:nvSpPr>
            <p:cNvPr id="54" name="Freeform 46">
              <a:extLst>
                <a:ext uri="{FF2B5EF4-FFF2-40B4-BE49-F238E27FC236}">
                  <a16:creationId xmlns:a16="http://schemas.microsoft.com/office/drawing/2014/main" id="{BC28A765-6E8B-4352-BD0C-35474F70A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55" name="Freeform 47">
              <a:extLst>
                <a:ext uri="{FF2B5EF4-FFF2-40B4-BE49-F238E27FC236}">
                  <a16:creationId xmlns:a16="http://schemas.microsoft.com/office/drawing/2014/main" id="{0AC30A17-F494-44EB-9817-1B8B255CE4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56" name="Freeform 48">
              <a:extLst>
                <a:ext uri="{FF2B5EF4-FFF2-40B4-BE49-F238E27FC236}">
                  <a16:creationId xmlns:a16="http://schemas.microsoft.com/office/drawing/2014/main" id="{6088D59F-32BD-4932-9C22-9AA0FCDA7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57" name="Freeform 49">
              <a:extLst>
                <a:ext uri="{FF2B5EF4-FFF2-40B4-BE49-F238E27FC236}">
                  <a16:creationId xmlns:a16="http://schemas.microsoft.com/office/drawing/2014/main" id="{B18BBE45-5F21-47FA-B291-AC802D715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58" name="Freeform 50">
              <a:extLst>
                <a:ext uri="{FF2B5EF4-FFF2-40B4-BE49-F238E27FC236}">
                  <a16:creationId xmlns:a16="http://schemas.microsoft.com/office/drawing/2014/main" id="{A1BD992D-1C4B-4E69-A627-A45D8958E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59" name="Freeform 51">
              <a:extLst>
                <a:ext uri="{FF2B5EF4-FFF2-40B4-BE49-F238E27FC236}">
                  <a16:creationId xmlns:a16="http://schemas.microsoft.com/office/drawing/2014/main" id="{571C0498-7105-455E-8B0A-233F850F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60" name="Freeform 52">
              <a:extLst>
                <a:ext uri="{FF2B5EF4-FFF2-40B4-BE49-F238E27FC236}">
                  <a16:creationId xmlns:a16="http://schemas.microsoft.com/office/drawing/2014/main" id="{F6FA78CC-C0B1-422F-B535-05580A971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61" name="Freeform 53">
              <a:extLst>
                <a:ext uri="{FF2B5EF4-FFF2-40B4-BE49-F238E27FC236}">
                  <a16:creationId xmlns:a16="http://schemas.microsoft.com/office/drawing/2014/main" id="{49A1BACF-EE5E-46F8-8968-D4CF18BC01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62" name="Freeform 54">
              <a:extLst>
                <a:ext uri="{FF2B5EF4-FFF2-40B4-BE49-F238E27FC236}">
                  <a16:creationId xmlns:a16="http://schemas.microsoft.com/office/drawing/2014/main" id="{0AF8DFAF-8AF7-453E-AED7-89E59FBD7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63" name="Freeform 55">
              <a:extLst>
                <a:ext uri="{FF2B5EF4-FFF2-40B4-BE49-F238E27FC236}">
                  <a16:creationId xmlns:a16="http://schemas.microsoft.com/office/drawing/2014/main" id="{F8C26D97-8DA4-4556-92E4-2AE66B36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64" name="Freeform 56">
              <a:extLst>
                <a:ext uri="{FF2B5EF4-FFF2-40B4-BE49-F238E27FC236}">
                  <a16:creationId xmlns:a16="http://schemas.microsoft.com/office/drawing/2014/main" id="{EEF9D855-A8A7-44CC-919C-BEA327F254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65" name="Freeform 57">
              <a:extLst>
                <a:ext uri="{FF2B5EF4-FFF2-40B4-BE49-F238E27FC236}">
                  <a16:creationId xmlns:a16="http://schemas.microsoft.com/office/drawing/2014/main" id="{11F0B045-803C-4067-A182-066EEB2C4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sp>
          <p:nvSpPr>
            <p:cNvPr id="66" name="Freeform 58">
              <a:extLst>
                <a:ext uri="{FF2B5EF4-FFF2-40B4-BE49-F238E27FC236}">
                  <a16:creationId xmlns:a16="http://schemas.microsoft.com/office/drawing/2014/main" id="{3C1FCACB-EFEF-4B54-99A6-E327A637C2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hu-HU"/>
            </a:p>
          </p:txBody>
        </p:sp>
      </p:grpSp>
      <p:sp>
        <p:nvSpPr>
          <p:cNvPr id="2" name="Cím 1">
            <a:extLst>
              <a:ext uri="{FF2B5EF4-FFF2-40B4-BE49-F238E27FC236}">
                <a16:creationId xmlns:a16="http://schemas.microsoft.com/office/drawing/2014/main" id="{689659CD-2035-1595-9BA8-8268773571FF}"/>
              </a:ext>
            </a:extLst>
          </p:cNvPr>
          <p:cNvSpPr>
            <a:spLocks noGrp="1"/>
          </p:cNvSpPr>
          <p:nvPr>
            <p:ph type="title"/>
          </p:nvPr>
        </p:nvSpPr>
        <p:spPr>
          <a:xfrm>
            <a:off x="1876425" y="1113282"/>
            <a:ext cx="3734941" cy="2396681"/>
          </a:xfrm>
        </p:spPr>
        <p:txBody>
          <a:bodyPr vert="horz" lIns="91440" tIns="45720" rIns="91440" bIns="45720" rtlCol="0" anchor="b">
            <a:normAutofit/>
          </a:bodyPr>
          <a:lstStyle/>
          <a:p>
            <a:r>
              <a:rPr lang="en-US" sz="4800" dirty="0"/>
              <a:t>Windows update</a:t>
            </a:r>
          </a:p>
        </p:txBody>
      </p:sp>
      <p:sp>
        <p:nvSpPr>
          <p:cNvPr id="68" name="Round Diagonal Corner Rectangle 6">
            <a:extLst>
              <a:ext uri="{FF2B5EF4-FFF2-40B4-BE49-F238E27FC236}">
                <a16:creationId xmlns:a16="http://schemas.microsoft.com/office/drawing/2014/main" id="{01958E0A-0BC1-424F-9B41-D614FC13A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808057"/>
            <a:ext cx="5286376" cy="5234394"/>
          </a:xfrm>
          <a:prstGeom prst="round2DiagRect">
            <a:avLst>
              <a:gd name="adj1" fmla="val 6185"/>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Kép 4" descr="A képen szöveg, képernyőkép, szoftver, Multimédiás szoftver látható&#10;&#10;Előfordulhat, hogy az AI által létrehozott tartalom helytelen.">
            <a:extLst>
              <a:ext uri="{FF2B5EF4-FFF2-40B4-BE49-F238E27FC236}">
                <a16:creationId xmlns:a16="http://schemas.microsoft.com/office/drawing/2014/main" id="{22D59FC9-7BCF-68A4-5C97-0686F3E6503E}"/>
              </a:ext>
            </a:extLst>
          </p:cNvPr>
          <p:cNvPicPr>
            <a:picLocks noChangeAspect="1"/>
          </p:cNvPicPr>
          <p:nvPr/>
        </p:nvPicPr>
        <p:blipFill>
          <a:blip r:embed="rId4"/>
          <a:srcRect r="32907" b="1"/>
          <a:stretch>
            <a:fillRect/>
          </a:stretch>
        </p:blipFill>
        <p:spPr>
          <a:xfrm>
            <a:off x="6421396" y="1136606"/>
            <a:ext cx="4635583" cy="4577297"/>
          </a:xfrm>
          <a:prstGeom prst="rect">
            <a:avLst/>
          </a:prstGeom>
        </p:spPr>
      </p:pic>
    </p:spTree>
    <p:extLst>
      <p:ext uri="{BB962C8B-B14F-4D97-AF65-F5344CB8AC3E}">
        <p14:creationId xmlns:p14="http://schemas.microsoft.com/office/powerpoint/2010/main" val="22431387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52" name="Rectangle 51">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4"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Cím 1">
            <a:extLst>
              <a:ext uri="{FF2B5EF4-FFF2-40B4-BE49-F238E27FC236}">
                <a16:creationId xmlns:a16="http://schemas.microsoft.com/office/drawing/2014/main" id="{9F725770-8D03-A896-D088-23D5727ED8B0}"/>
              </a:ext>
            </a:extLst>
          </p:cNvPr>
          <p:cNvSpPr>
            <a:spLocks noGrp="1"/>
          </p:cNvSpPr>
          <p:nvPr>
            <p:ph type="title"/>
          </p:nvPr>
        </p:nvSpPr>
        <p:spPr>
          <a:xfrm>
            <a:off x="855266" y="618518"/>
            <a:ext cx="2851417" cy="5009170"/>
          </a:xfrm>
        </p:spPr>
        <p:txBody>
          <a:bodyPr>
            <a:normAutofit/>
          </a:bodyPr>
          <a:lstStyle/>
          <a:p>
            <a:r>
              <a:rPr lang="en-US" sz="3200" dirty="0" err="1">
                <a:solidFill>
                  <a:srgbClr val="FFFFFF"/>
                </a:solidFill>
              </a:rPr>
              <a:t>Eszközkezelő</a:t>
            </a:r>
            <a:endParaRPr lang="hu-HU" sz="3200" dirty="0">
              <a:solidFill>
                <a:srgbClr val="FFFFFF"/>
              </a:solidFill>
            </a:endParaRPr>
          </a:p>
        </p:txBody>
      </p:sp>
      <p:grpSp>
        <p:nvGrpSpPr>
          <p:cNvPr id="56" name="Group 55">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57"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hu-HU"/>
            </a:p>
          </p:txBody>
        </p:sp>
        <p:sp>
          <p:nvSpPr>
            <p:cNvPr id="58"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59"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60"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61"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62"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63"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64"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65"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66"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67"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68"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hu-HU"/>
            </a:p>
          </p:txBody>
        </p:sp>
        <p:sp>
          <p:nvSpPr>
            <p:cNvPr id="69"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70"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71"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72"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73"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hu-HU"/>
            </a:p>
          </p:txBody>
        </p:sp>
        <p:sp>
          <p:nvSpPr>
            <p:cNvPr id="74"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75"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76"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77"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78"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79"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80"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81"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82"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sp>
          <p:nvSpPr>
            <p:cNvPr id="83"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hu-HU"/>
            </a:p>
          </p:txBody>
        </p:sp>
      </p:grpSp>
      <p:pic>
        <p:nvPicPr>
          <p:cNvPr id="5" name="Tartalom helye 4" descr="A képen szöveg, képernyőkép, szoftver, számítógép látható&#10;&#10;Előfordulhat, hogy az AI által létrehozott tartalom helytelen.">
            <a:extLst>
              <a:ext uri="{FF2B5EF4-FFF2-40B4-BE49-F238E27FC236}">
                <a16:creationId xmlns:a16="http://schemas.microsoft.com/office/drawing/2014/main" id="{5AD6F983-AFFB-209B-13C3-16D11CD41F99}"/>
              </a:ext>
            </a:extLst>
          </p:cNvPr>
          <p:cNvPicPr>
            <a:picLocks noChangeAspect="1"/>
          </p:cNvPicPr>
          <p:nvPr/>
        </p:nvPicPr>
        <p:blipFill>
          <a:blip r:embed="rId3"/>
          <a:stretch>
            <a:fillRect/>
          </a:stretch>
        </p:blipFill>
        <p:spPr>
          <a:xfrm>
            <a:off x="4711778" y="920116"/>
            <a:ext cx="6844045" cy="5013263"/>
          </a:xfrm>
          <a:prstGeom prst="rect">
            <a:avLst/>
          </a:prstGeom>
        </p:spPr>
      </p:pic>
    </p:spTree>
    <p:extLst>
      <p:ext uri="{BB962C8B-B14F-4D97-AF65-F5344CB8AC3E}">
        <p14:creationId xmlns:p14="http://schemas.microsoft.com/office/powerpoint/2010/main" val="3974030428"/>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F9004D6-6C47-40D0-715F-BA07567FC6A4}"/>
              </a:ext>
            </a:extLst>
          </p:cNvPr>
          <p:cNvSpPr>
            <a:spLocks noGrp="1"/>
          </p:cNvSpPr>
          <p:nvPr>
            <p:ph type="title"/>
          </p:nvPr>
        </p:nvSpPr>
        <p:spPr/>
        <p:txBody>
          <a:bodyPr/>
          <a:lstStyle/>
          <a:p>
            <a:r>
              <a:rPr lang="hu-HU" dirty="0"/>
              <a:t>Lemez klónozás</a:t>
            </a:r>
          </a:p>
        </p:txBody>
      </p:sp>
      <p:sp>
        <p:nvSpPr>
          <p:cNvPr id="3" name="Tartalom helye 2">
            <a:extLst>
              <a:ext uri="{FF2B5EF4-FFF2-40B4-BE49-F238E27FC236}">
                <a16:creationId xmlns:a16="http://schemas.microsoft.com/office/drawing/2014/main" id="{8BCDD283-316F-E9CD-BADC-D5C9ED220CAC}"/>
              </a:ext>
            </a:extLst>
          </p:cNvPr>
          <p:cNvSpPr>
            <a:spLocks noGrp="1"/>
          </p:cNvSpPr>
          <p:nvPr>
            <p:ph idx="1"/>
          </p:nvPr>
        </p:nvSpPr>
        <p:spPr/>
        <p:txBody>
          <a:bodyPr>
            <a:normAutofit fontScale="77500" lnSpcReduction="20000"/>
          </a:bodyPr>
          <a:lstStyle/>
          <a:p>
            <a:r>
              <a:rPr lang="hu-HU" dirty="0"/>
              <a:t>Az operációs rendszer több számítógépre történő telepítése időigényes feladat. Az egyszerűsítés érdekében a rendszergazdák általában kiválasztanak egy számítógépet, amely alaprendszerként fog működni, és elvégzik a szokásos operációs rendszer telepítési folyamatot. Miután az operációs rendszer telepítése befejeződött az alapszámítógépen, egy speciális programmal szektoronként másolják át az összes információt a lemezről egy másik lemezre. Ez az új lemez, amely általában egy külső eszköz, most már egy teljesen telepített operációs rendszert tartalmaz, és felhasználható az alap operációs rendszer, valamint az összes telepített alkalmazás és adat új példányának gyors telepítésére.</a:t>
            </a:r>
          </a:p>
          <a:p>
            <a:r>
              <a:rPr lang="hu-HU" dirty="0"/>
              <a:t>Ha az alap telepítés során véletlenül nem kívánt beállítás kerül beépítésre, a rendszergazda a Microsoft System Preparation (</a:t>
            </a:r>
            <a:r>
              <a:rPr lang="hu-HU" dirty="0" err="1"/>
              <a:t>Sysprep</a:t>
            </a:r>
            <a:r>
              <a:rPr lang="hu-HU" dirty="0"/>
              <a:t>) eszközével eltávolíthatja azt a végleges kép létrehozása előtt.</a:t>
            </a:r>
          </a:p>
        </p:txBody>
      </p:sp>
    </p:spTree>
    <p:extLst>
      <p:ext uri="{BB962C8B-B14F-4D97-AF65-F5344CB8AC3E}">
        <p14:creationId xmlns:p14="http://schemas.microsoft.com/office/powerpoint/2010/main" val="277067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75561E9-8B46-49A9-DC65-F352E6998A90}"/>
              </a:ext>
            </a:extLst>
          </p:cNvPr>
          <p:cNvSpPr>
            <a:spLocks noGrp="1"/>
          </p:cNvSpPr>
          <p:nvPr>
            <p:ph type="title"/>
          </p:nvPr>
        </p:nvSpPr>
        <p:spPr/>
        <p:txBody>
          <a:bodyPr/>
          <a:lstStyle/>
          <a:p>
            <a:r>
              <a:rPr lang="hu-HU" dirty="0"/>
              <a:t>Egyéb telepítési módok</a:t>
            </a:r>
          </a:p>
        </p:txBody>
      </p:sp>
      <p:sp>
        <p:nvSpPr>
          <p:cNvPr id="3" name="Tartalom helye 2">
            <a:extLst>
              <a:ext uri="{FF2B5EF4-FFF2-40B4-BE49-F238E27FC236}">
                <a16:creationId xmlns:a16="http://schemas.microsoft.com/office/drawing/2014/main" id="{30BE18DD-4E20-C6EE-64AA-2EC394223E93}"/>
              </a:ext>
            </a:extLst>
          </p:cNvPr>
          <p:cNvSpPr>
            <a:spLocks noGrp="1"/>
          </p:cNvSpPr>
          <p:nvPr>
            <p:ph idx="1"/>
          </p:nvPr>
        </p:nvSpPr>
        <p:spPr/>
        <p:txBody>
          <a:bodyPr>
            <a:normAutofit fontScale="92500"/>
          </a:bodyPr>
          <a:lstStyle/>
          <a:p>
            <a:r>
              <a:rPr lang="hu-HU" b="1" dirty="0"/>
              <a:t>Hálózati telepítés</a:t>
            </a:r>
            <a:r>
              <a:rPr lang="hu-HU" dirty="0"/>
              <a:t> – Ide tartozik a </a:t>
            </a:r>
            <a:r>
              <a:rPr lang="hu-HU" dirty="0" err="1"/>
              <a:t>Preboot</a:t>
            </a:r>
            <a:r>
              <a:rPr lang="hu-HU" dirty="0"/>
              <a:t> </a:t>
            </a:r>
            <a:r>
              <a:rPr lang="hu-HU" dirty="0" err="1"/>
              <a:t>Execution</a:t>
            </a:r>
            <a:r>
              <a:rPr lang="hu-HU" dirty="0"/>
              <a:t> </a:t>
            </a:r>
            <a:r>
              <a:rPr lang="hu-HU" dirty="0" err="1"/>
              <a:t>Environment</a:t>
            </a:r>
            <a:r>
              <a:rPr lang="hu-HU" dirty="0"/>
              <a:t> (PXE) telepítés, a felügyelet nélküli telepítés és a távoli telepítés.</a:t>
            </a:r>
          </a:p>
          <a:p>
            <a:r>
              <a:rPr lang="hu-HU" b="1" dirty="0"/>
              <a:t>Képalapú belső partíció telepítése</a:t>
            </a:r>
            <a:r>
              <a:rPr lang="hu-HU" dirty="0"/>
              <a:t> – Ez egy belső (gyakran rejtett) partíción tárolt Windows-kép, amely segítségével a Windows visszaállítható a gyári állapotába.</a:t>
            </a:r>
          </a:p>
          <a:p>
            <a:r>
              <a:rPr lang="hu-HU" b="1" dirty="0"/>
              <a:t>Egyéb egyéni telepítési típusok</a:t>
            </a:r>
            <a:r>
              <a:rPr lang="hu-HU" dirty="0"/>
              <a:t> – Ide tartoznak a Windows speciális indítási beállításai, a számítógép frissítése (csak Windows 8.x esetén), a rendszer-visszaállítás, a frissítés, a javító telepítés, a távoli hálózati telepítés, a helyreállítási partíció és a frissítés/visszaállítás</a:t>
            </a:r>
            <a:r>
              <a:rPr lang="en-US" dirty="0"/>
              <a:t>.</a:t>
            </a:r>
            <a:endParaRPr lang="hu-HU" dirty="0"/>
          </a:p>
        </p:txBody>
      </p:sp>
    </p:spTree>
    <p:extLst>
      <p:ext uri="{BB962C8B-B14F-4D97-AF65-F5344CB8AC3E}">
        <p14:creationId xmlns:p14="http://schemas.microsoft.com/office/powerpoint/2010/main" val="41888175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921A89F-C20D-1B6C-7E7C-CE5BDDAF4ADB}"/>
              </a:ext>
            </a:extLst>
          </p:cNvPr>
          <p:cNvSpPr>
            <a:spLocks noGrp="1"/>
          </p:cNvSpPr>
          <p:nvPr>
            <p:ph type="title"/>
          </p:nvPr>
        </p:nvSpPr>
        <p:spPr/>
        <p:txBody>
          <a:bodyPr/>
          <a:lstStyle/>
          <a:p>
            <a:r>
              <a:rPr lang="hu-HU" dirty="0"/>
              <a:t>Távoli hálózati telepítés</a:t>
            </a:r>
          </a:p>
        </p:txBody>
      </p:sp>
      <p:sp>
        <p:nvSpPr>
          <p:cNvPr id="3" name="Tartalom helye 2">
            <a:extLst>
              <a:ext uri="{FF2B5EF4-FFF2-40B4-BE49-F238E27FC236}">
                <a16:creationId xmlns:a16="http://schemas.microsoft.com/office/drawing/2014/main" id="{49BB565C-336E-01A4-112C-6C253749239E}"/>
              </a:ext>
            </a:extLst>
          </p:cNvPr>
          <p:cNvSpPr>
            <a:spLocks noGrp="1"/>
          </p:cNvSpPr>
          <p:nvPr>
            <p:ph idx="1"/>
          </p:nvPr>
        </p:nvSpPr>
        <p:spPr>
          <a:xfrm>
            <a:off x="1141412" y="2249486"/>
            <a:ext cx="9905999" cy="3989995"/>
          </a:xfrm>
        </p:spPr>
        <p:txBody>
          <a:bodyPr>
            <a:normAutofit fontScale="92500" lnSpcReduction="10000"/>
          </a:bodyPr>
          <a:lstStyle/>
          <a:p>
            <a:r>
              <a:rPr lang="hu-HU" dirty="0"/>
              <a:t>Távoli hálózati telepítés esetén az operációs rendszer telepítőfájljai egy szerveren vannak tárolva. Az ügyfélszámítógép távoli hozzáféréssel érheti el a fájlokat. Egy olyan szoftvercsomag, mint a </a:t>
            </a:r>
            <a:r>
              <a:rPr lang="hu-HU" dirty="0" err="1"/>
              <a:t>Remote</a:t>
            </a:r>
            <a:r>
              <a:rPr lang="hu-HU" dirty="0"/>
              <a:t> </a:t>
            </a:r>
            <a:r>
              <a:rPr lang="hu-HU" dirty="0" err="1"/>
              <a:t>Installation</a:t>
            </a:r>
            <a:r>
              <a:rPr lang="hu-HU" dirty="0"/>
              <a:t> </a:t>
            </a:r>
            <a:r>
              <a:rPr lang="hu-HU" dirty="0" err="1"/>
              <a:t>Services</a:t>
            </a:r>
            <a:r>
              <a:rPr lang="hu-HU" dirty="0"/>
              <a:t> (RIS), kommunikál az ügyféllel, tárolja a telepítőfájlokat, és megadja az ügyfélnek a telepítőfájlok eléréséhez, letöltéséhez és az operációs rendszer telepítésének megkezdéséhez szükséges utasításokat.</a:t>
            </a:r>
          </a:p>
          <a:p>
            <a:r>
              <a:rPr lang="hu-HU" dirty="0"/>
              <a:t>Mivel az ügyfélszámítógépre nincs operációs rendszer telepítve, egy speciális környezetet kell használni a számítógép indításához, a hálózathoz való csatlakozáshoz és a szerverrel való kommunikációhoz a telepítési folyamat megkezdéséhez. Ez a speciális környezet</a:t>
            </a:r>
            <a:r>
              <a:rPr lang="en-US" dirty="0"/>
              <a:t> </a:t>
            </a:r>
            <a:r>
              <a:rPr lang="hu-HU" dirty="0" err="1"/>
              <a:t>Preboot</a:t>
            </a:r>
            <a:r>
              <a:rPr lang="hu-HU" dirty="0"/>
              <a:t> </a:t>
            </a:r>
            <a:r>
              <a:rPr lang="hu-HU" dirty="0" err="1"/>
              <a:t>eXecution</a:t>
            </a:r>
            <a:r>
              <a:rPr lang="hu-HU" dirty="0"/>
              <a:t> </a:t>
            </a:r>
            <a:r>
              <a:rPr lang="hu-HU" dirty="0" err="1"/>
              <a:t>Environment</a:t>
            </a:r>
            <a:r>
              <a:rPr lang="hu-HU" dirty="0"/>
              <a:t> (PXE)</a:t>
            </a:r>
            <a:r>
              <a:rPr lang="en-US" dirty="0"/>
              <a:t>.</a:t>
            </a:r>
            <a:endParaRPr lang="hu-HU" dirty="0"/>
          </a:p>
        </p:txBody>
      </p:sp>
    </p:spTree>
    <p:extLst>
      <p:ext uri="{BB962C8B-B14F-4D97-AF65-F5344CB8AC3E}">
        <p14:creationId xmlns:p14="http://schemas.microsoft.com/office/powerpoint/2010/main" val="4081932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6503D13-0F75-4E74-B588-8CE3E3E49400}"/>
              </a:ext>
            </a:extLst>
          </p:cNvPr>
          <p:cNvSpPr>
            <a:spLocks noGrp="1"/>
          </p:cNvSpPr>
          <p:nvPr>
            <p:ph type="title"/>
          </p:nvPr>
        </p:nvSpPr>
        <p:spPr/>
        <p:txBody>
          <a:bodyPr/>
          <a:lstStyle/>
          <a:p>
            <a:r>
              <a:rPr lang="hu-HU" dirty="0"/>
              <a:t>Felügyelet nélküli hálózati telepítés</a:t>
            </a:r>
          </a:p>
        </p:txBody>
      </p:sp>
      <p:sp>
        <p:nvSpPr>
          <p:cNvPr id="3" name="Tartalom helye 2">
            <a:extLst>
              <a:ext uri="{FF2B5EF4-FFF2-40B4-BE49-F238E27FC236}">
                <a16:creationId xmlns:a16="http://schemas.microsoft.com/office/drawing/2014/main" id="{42ACDC7F-870D-ADCF-B5D9-B59102AF22FA}"/>
              </a:ext>
            </a:extLst>
          </p:cNvPr>
          <p:cNvSpPr>
            <a:spLocks noGrp="1"/>
          </p:cNvSpPr>
          <p:nvPr>
            <p:ph idx="1"/>
          </p:nvPr>
        </p:nvSpPr>
        <p:spPr/>
        <p:txBody>
          <a:bodyPr/>
          <a:lstStyle/>
          <a:p>
            <a:pPr marL="0" indent="0">
              <a:buNone/>
            </a:pPr>
            <a:r>
              <a:rPr lang="hu-HU" dirty="0"/>
              <a:t>A Windows felügyelet nélküli telepítéséhez a setup.exe fájlt a válaszfájlban található felhasználói beállításokkal kell futtatni. A telepítőprogram a felhasználó megkérdezése helyett a fájlban felsorolt válaszokat használja.</a:t>
            </a:r>
            <a:endParaRPr lang="en-US" dirty="0"/>
          </a:p>
          <a:p>
            <a:pPr marL="0" indent="0">
              <a:buNone/>
            </a:pPr>
            <a:r>
              <a:rPr lang="hu-HU" dirty="0"/>
              <a:t>A szabványos Windows 10 telepítés </a:t>
            </a:r>
            <a:r>
              <a:rPr lang="hu-HU" dirty="0" err="1"/>
              <a:t>testreszabásához</a:t>
            </a:r>
            <a:r>
              <a:rPr lang="hu-HU" dirty="0"/>
              <a:t> használja a System Image Manager (SIM) programot a telepítő válaszfájl létrehozásához. A válaszfájl átmásolásra kerül a szerver megosztott terjesztési mappájába. Ekkor két lehetőség közül választhat:</a:t>
            </a:r>
          </a:p>
        </p:txBody>
      </p:sp>
    </p:spTree>
    <p:extLst>
      <p:ext uri="{BB962C8B-B14F-4D97-AF65-F5344CB8AC3E}">
        <p14:creationId xmlns:p14="http://schemas.microsoft.com/office/powerpoint/2010/main" val="3972252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7B5B8B98-0E7D-98F6-1515-29EB9FB8C3DC}"/>
              </a:ext>
            </a:extLst>
          </p:cNvPr>
          <p:cNvSpPr>
            <a:spLocks noGrp="1"/>
          </p:cNvSpPr>
          <p:nvPr>
            <p:ph idx="1"/>
          </p:nvPr>
        </p:nvSpPr>
        <p:spPr>
          <a:xfrm>
            <a:off x="1141412" y="1393371"/>
            <a:ext cx="9905999" cy="4397830"/>
          </a:xfrm>
        </p:spPr>
        <p:txBody>
          <a:bodyPr/>
          <a:lstStyle/>
          <a:p>
            <a:pPr fontAlgn="base"/>
            <a:r>
              <a:rPr lang="hu-HU" dirty="0"/>
              <a:t>Futtassa az unattended.bat fájlt az ügyfélgépen a merevlemez előkészítéséhez, és telepítse az operációs rendszert a szerverről a hálózaton keresztül.</a:t>
            </a:r>
          </a:p>
          <a:p>
            <a:pPr fontAlgn="base"/>
            <a:r>
              <a:rPr lang="hu-HU" dirty="0"/>
              <a:t>Hozzon létre egy indítólemezt, amely elindítja a számítógépet, és csatlakozik a szerver megosztott mappájához. Ezután futtasson egy parancsfájlt, amely tartalmazza az operációs rendszer hálózaton keresztüli telepítéséhez szükséges utasításokat.</a:t>
            </a:r>
          </a:p>
        </p:txBody>
      </p:sp>
    </p:spTree>
    <p:extLst>
      <p:ext uri="{BB962C8B-B14F-4D97-AF65-F5344CB8AC3E}">
        <p14:creationId xmlns:p14="http://schemas.microsoft.com/office/powerpoint/2010/main" val="36525749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7A066D1-6D2E-1532-3242-DB1843F6EE24}"/>
              </a:ext>
            </a:extLst>
          </p:cNvPr>
          <p:cNvSpPr>
            <a:spLocks noGrp="1"/>
          </p:cNvSpPr>
          <p:nvPr>
            <p:ph type="title"/>
          </p:nvPr>
        </p:nvSpPr>
        <p:spPr/>
        <p:txBody>
          <a:bodyPr/>
          <a:lstStyle/>
          <a:p>
            <a:r>
              <a:rPr lang="hu-HU" dirty="0"/>
              <a:t>Helyreállítási partíció</a:t>
            </a:r>
          </a:p>
        </p:txBody>
      </p:sp>
      <p:sp>
        <p:nvSpPr>
          <p:cNvPr id="3" name="Tartalom helye 2">
            <a:extLst>
              <a:ext uri="{FF2B5EF4-FFF2-40B4-BE49-F238E27FC236}">
                <a16:creationId xmlns:a16="http://schemas.microsoft.com/office/drawing/2014/main" id="{2F1EA82D-AEEA-A99F-F9E9-2F571927707B}"/>
              </a:ext>
            </a:extLst>
          </p:cNvPr>
          <p:cNvSpPr>
            <a:spLocks noGrp="1"/>
          </p:cNvSpPr>
          <p:nvPr>
            <p:ph idx="1"/>
          </p:nvPr>
        </p:nvSpPr>
        <p:spPr>
          <a:xfrm>
            <a:off x="1141412" y="1611086"/>
            <a:ext cx="9905999" cy="4775200"/>
          </a:xfrm>
        </p:spPr>
        <p:txBody>
          <a:bodyPr>
            <a:normAutofit/>
          </a:bodyPr>
          <a:lstStyle/>
          <a:p>
            <a:r>
              <a:rPr lang="en-US" dirty="0"/>
              <a:t>A </a:t>
            </a:r>
            <a:r>
              <a:rPr lang="hu-HU" dirty="0"/>
              <a:t>Windows-számítógépek tartalmaz</a:t>
            </a:r>
            <a:r>
              <a:rPr lang="en-US" dirty="0"/>
              <a:t>hat</a:t>
            </a:r>
            <a:r>
              <a:rPr lang="hu-HU" dirty="0" err="1"/>
              <a:t>nak</a:t>
            </a:r>
            <a:r>
              <a:rPr lang="hu-HU" dirty="0"/>
              <a:t> egy olyan lemezterületet, amely a felhasználó számára nem elérhető. Ez a helyreállítási partíció, egy képet tartalmaz, amely segítségével a</a:t>
            </a:r>
            <a:r>
              <a:rPr lang="en-US" dirty="0"/>
              <a:t>z</a:t>
            </a:r>
            <a:r>
              <a:rPr lang="hu-HU" dirty="0"/>
              <a:t> eredeti konfiguráció visszaállítható.</a:t>
            </a:r>
          </a:p>
          <a:p>
            <a:r>
              <a:rPr lang="hu-HU" dirty="0"/>
              <a:t>A helyreállítási partíciót gyakran elrejtik, hogy ne lehessen más célra használni. A számítógép helyreállításához a helyreállítási partíció segítségével gyakran egy speciális gombot vagy gomb kombinációt kell használni a számítógép indításakor. </a:t>
            </a:r>
          </a:p>
        </p:txBody>
      </p:sp>
    </p:spTree>
    <p:extLst>
      <p:ext uri="{BB962C8B-B14F-4D97-AF65-F5344CB8AC3E}">
        <p14:creationId xmlns:p14="http://schemas.microsoft.com/office/powerpoint/2010/main" val="33112256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6A252A4-D31B-7162-7CE3-A9F7DB233447}"/>
              </a:ext>
            </a:extLst>
          </p:cNvPr>
          <p:cNvSpPr>
            <a:spLocks noGrp="1"/>
          </p:cNvSpPr>
          <p:nvPr>
            <p:ph type="title"/>
          </p:nvPr>
        </p:nvSpPr>
        <p:spPr/>
        <p:txBody>
          <a:bodyPr/>
          <a:lstStyle/>
          <a:p>
            <a:r>
              <a:rPr lang="hu-HU" dirty="0"/>
              <a:t>Frissítési módok</a:t>
            </a:r>
          </a:p>
        </p:txBody>
      </p:sp>
      <p:sp>
        <p:nvSpPr>
          <p:cNvPr id="3" name="Tartalom helye 2">
            <a:extLst>
              <a:ext uri="{FF2B5EF4-FFF2-40B4-BE49-F238E27FC236}">
                <a16:creationId xmlns:a16="http://schemas.microsoft.com/office/drawing/2014/main" id="{B1E28962-8641-D95F-97CF-1794C9F6EE8D}"/>
              </a:ext>
            </a:extLst>
          </p:cNvPr>
          <p:cNvSpPr>
            <a:spLocks noGrp="1"/>
          </p:cNvSpPr>
          <p:nvPr>
            <p:ph idx="1"/>
          </p:nvPr>
        </p:nvSpPr>
        <p:spPr>
          <a:xfrm>
            <a:off x="1141412" y="2249487"/>
            <a:ext cx="9905999" cy="4093256"/>
          </a:xfrm>
        </p:spPr>
        <p:txBody>
          <a:bodyPr>
            <a:normAutofit fontScale="92500" lnSpcReduction="10000"/>
          </a:bodyPr>
          <a:lstStyle/>
          <a:p>
            <a:pPr fontAlgn="base"/>
            <a:r>
              <a:rPr lang="hu-HU" b="1" dirty="0"/>
              <a:t>Helyben történő frissítés</a:t>
            </a:r>
            <a:r>
              <a:rPr lang="hu-HU" dirty="0"/>
              <a:t> – Ezzel frissül az operációs rendszer, és az alkalmazások és beállítások átkerülnek az új operációs rendszerbe. A System Center </a:t>
            </a:r>
            <a:r>
              <a:rPr lang="hu-HU" dirty="0" err="1"/>
              <a:t>Configuration</a:t>
            </a:r>
            <a:r>
              <a:rPr lang="hu-HU" dirty="0"/>
              <a:t> Manager feladatfolyamat segítségével a folyamat teljesen automatizálható. A Windows 7 vagy Windows 8 operációs rendszer Windows 10-re történő frissítésekor a Windows telepítőprogram (Setup.exe) helyben történő frissítést hajt végre, amely automatikusan megőrzi a meglévő operációs rendszer verziójának összes adatát, beállítását, alkalmazását és illesztőprogramját.</a:t>
            </a:r>
          </a:p>
          <a:p>
            <a:r>
              <a:rPr lang="hu-HU" b="1" dirty="0"/>
              <a:t>Tiszta telepítés</a:t>
            </a:r>
            <a:r>
              <a:rPr lang="hu-HU" dirty="0"/>
              <a:t> – A Windows újabb verziójára való frissítés másik módja a tiszta frissítés végrehajtása. Mivel a tiszta telepítés teljesen törli a meghajtót, minden fájlt és adatot valamilyen biztonsági meghajtóra kell menteni.</a:t>
            </a:r>
          </a:p>
        </p:txBody>
      </p:sp>
    </p:spTree>
    <p:extLst>
      <p:ext uri="{BB962C8B-B14F-4D97-AF65-F5344CB8AC3E}">
        <p14:creationId xmlns:p14="http://schemas.microsoft.com/office/powerpoint/2010/main" val="19358061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A260CCE-F280-0AC1-6502-F118411C7753}"/>
              </a:ext>
            </a:extLst>
          </p:cNvPr>
          <p:cNvSpPr>
            <a:spLocks noGrp="1"/>
          </p:cNvSpPr>
          <p:nvPr>
            <p:ph type="title"/>
          </p:nvPr>
        </p:nvSpPr>
        <p:spPr/>
        <p:txBody>
          <a:bodyPr/>
          <a:lstStyle/>
          <a:p>
            <a:r>
              <a:rPr lang="hu-HU" dirty="0"/>
              <a:t>Windows 8 - 10 indítási módok</a:t>
            </a:r>
          </a:p>
        </p:txBody>
      </p:sp>
      <p:sp>
        <p:nvSpPr>
          <p:cNvPr id="3" name="Tartalom helye 2">
            <a:extLst>
              <a:ext uri="{FF2B5EF4-FFF2-40B4-BE49-F238E27FC236}">
                <a16:creationId xmlns:a16="http://schemas.microsoft.com/office/drawing/2014/main" id="{3C692840-F851-6730-8CFC-B0C03D5B8B92}"/>
              </a:ext>
            </a:extLst>
          </p:cNvPr>
          <p:cNvSpPr>
            <a:spLocks noGrp="1"/>
          </p:cNvSpPr>
          <p:nvPr>
            <p:ph idx="1"/>
          </p:nvPr>
        </p:nvSpPr>
        <p:spPr>
          <a:xfrm>
            <a:off x="1141412" y="2249487"/>
            <a:ext cx="9905999" cy="4180342"/>
          </a:xfrm>
        </p:spPr>
        <p:txBody>
          <a:bodyPr>
            <a:normAutofit fontScale="92500"/>
          </a:bodyPr>
          <a:lstStyle/>
          <a:p>
            <a:r>
              <a:rPr lang="en-US" dirty="0"/>
              <a:t>A</a:t>
            </a:r>
            <a:r>
              <a:rPr lang="hu-HU" dirty="0"/>
              <a:t>z F8 billentyűvel hozzáférhessünk a rendszerindítási beállításokhoz. Ehelyett tartsa lenyomva a Shift billentyűt, és válassza az Újraindítás lehetőséget az Energia menüben. Ezzel megjelenik az Opció kiválasztása képernyő. A rendszerindítási beállítások eléréséhez válassza a Hibaelhárítás lehetőséget, majd a következő képernyőn válassza a Speciális beállítások lehetőséget. A Speciális beállítások menüben válassza a Rendszerindítási beállítások lehetőséget, majd a következő képernyőn válassza az Újraindítás lehetőséget. A számítógép ezután újraindul, és megjeleníti a képen látható Rendszerindítási beállítások menüt. A rendszerindítási beállítások kiválasztásához használja a kívánt beállításnak megfelelő szám- vagy funkciógombokat (F1–F9).</a:t>
            </a:r>
          </a:p>
        </p:txBody>
      </p:sp>
    </p:spTree>
    <p:extLst>
      <p:ext uri="{BB962C8B-B14F-4D97-AF65-F5344CB8AC3E}">
        <p14:creationId xmlns:p14="http://schemas.microsoft.com/office/powerpoint/2010/main" val="18742400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Áramkör">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{B8F812F3-BD61-4A7C-836E-177D8973336F}TF6d5feb1e-e145-43f1-b745-cb4b54c5ee97173326b9-f4319fa30757</Template>
  <TotalTime>42</TotalTime>
  <Words>1935</Words>
  <Application>Microsoft Office PowerPoint</Application>
  <PresentationFormat>Szélesvásznú</PresentationFormat>
  <Paragraphs>101</Paragraphs>
  <Slides>36</Slides>
  <Notes>0</Notes>
  <HiddenSlides>0</HiddenSlides>
  <MMClips>0</MMClips>
  <ScaleCrop>false</ScaleCrop>
  <HeadingPairs>
    <vt:vector size="6" baseType="variant">
      <vt:variant>
        <vt:lpstr>Használt betűtípusok</vt:lpstr>
      </vt:variant>
      <vt:variant>
        <vt:i4>2</vt:i4>
      </vt:variant>
      <vt:variant>
        <vt:lpstr>Téma</vt:lpstr>
      </vt:variant>
      <vt:variant>
        <vt:i4>1</vt:i4>
      </vt:variant>
      <vt:variant>
        <vt:lpstr>Diacímek</vt:lpstr>
      </vt:variant>
      <vt:variant>
        <vt:i4>36</vt:i4>
      </vt:variant>
    </vt:vector>
  </HeadingPairs>
  <TitlesOfParts>
    <vt:vector size="39" baseType="lpstr">
      <vt:lpstr>Arial</vt:lpstr>
      <vt:lpstr>Tw Cen MT</vt:lpstr>
      <vt:lpstr>Áramkör</vt:lpstr>
      <vt:lpstr>Modern operációs rendszerek</vt:lpstr>
      <vt:lpstr>Fogalmak</vt:lpstr>
      <vt:lpstr>PowerPoint-bemutató</vt:lpstr>
      <vt:lpstr>Alapvető funkcionalitások</vt:lpstr>
      <vt:lpstr>PowerPoint-bemutató</vt:lpstr>
      <vt:lpstr>Windows operációs rendszerek</vt:lpstr>
      <vt:lpstr>Kompatibilis rendszer szoftver és hardver követelmények</vt:lpstr>
      <vt:lpstr>PowerPoint-bemutató</vt:lpstr>
      <vt:lpstr>Minimális hardverkövetelmények és operációs rendszerrel való kompatibilitás</vt:lpstr>
      <vt:lpstr>32 bit vs 64 bit</vt:lpstr>
      <vt:lpstr>Operációs rendszer kompatibilitásának ellenőrzése</vt:lpstr>
      <vt:lpstr>PowerPoint-bemutató</vt:lpstr>
      <vt:lpstr>Windows OPrendszer fejlesztése</vt:lpstr>
      <vt:lpstr>Adatmigráció</vt:lpstr>
      <vt:lpstr>Windows Telepítés</vt:lpstr>
      <vt:lpstr>Tárolóeszköz típusok</vt:lpstr>
      <vt:lpstr>Partícionálás</vt:lpstr>
      <vt:lpstr>MBR </vt:lpstr>
      <vt:lpstr>GPT</vt:lpstr>
      <vt:lpstr>PowerPoint-bemutató</vt:lpstr>
      <vt:lpstr>Partíciók és logikai meghajtók</vt:lpstr>
      <vt:lpstr>PowerPoint-bemutató</vt:lpstr>
      <vt:lpstr>Fájlrendszerek</vt:lpstr>
      <vt:lpstr>Telepítés és Boot sorrend</vt:lpstr>
      <vt:lpstr>Fiók létrehozás</vt:lpstr>
      <vt:lpstr>Telepítés véglegesítése</vt:lpstr>
      <vt:lpstr>Windows update</vt:lpstr>
      <vt:lpstr>Eszközkezelő</vt:lpstr>
      <vt:lpstr>Lemez klónozás</vt:lpstr>
      <vt:lpstr>Egyéb telepítési módok</vt:lpstr>
      <vt:lpstr>Távoli hálózati telepítés</vt:lpstr>
      <vt:lpstr>Felügyelet nélküli hálózati telepítés</vt:lpstr>
      <vt:lpstr>PowerPoint-bemutató</vt:lpstr>
      <vt:lpstr>Helyreállítási partíció</vt:lpstr>
      <vt:lpstr>Frissítési módok</vt:lpstr>
      <vt:lpstr>Windows 8 - 10 indítási módok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O365 felhasználó</dc:creator>
  <cp:lastModifiedBy>O365 felhasználó</cp:lastModifiedBy>
  <cp:revision>5</cp:revision>
  <dcterms:created xsi:type="dcterms:W3CDTF">2025-11-02T14:46:41Z</dcterms:created>
  <dcterms:modified xsi:type="dcterms:W3CDTF">2025-11-02T15:29:27Z</dcterms:modified>
</cp:coreProperties>
</file>